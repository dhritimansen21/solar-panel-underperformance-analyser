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8" r:id="rId2"/>
    <p:sldId id="389" r:id="rId3"/>
    <p:sldId id="390" r:id="rId4"/>
    <p:sldId id="393" r:id="rId5"/>
    <p:sldId id="409" r:id="rId6"/>
    <p:sldId id="410" r:id="rId7"/>
    <p:sldId id="411" r:id="rId8"/>
    <p:sldId id="395" r:id="rId9"/>
    <p:sldId id="412" r:id="rId10"/>
    <p:sldId id="402" r:id="rId11"/>
    <p:sldId id="396" r:id="rId12"/>
    <p:sldId id="397" r:id="rId13"/>
    <p:sldId id="413" r:id="rId14"/>
    <p:sldId id="394" r:id="rId15"/>
    <p:sldId id="399" r:id="rId16"/>
    <p:sldId id="403" r:id="rId17"/>
    <p:sldId id="400" r:id="rId18"/>
    <p:sldId id="398" r:id="rId19"/>
    <p:sldId id="401" r:id="rId20"/>
    <p:sldId id="404" r:id="rId21"/>
    <p:sldId id="405" r:id="rId22"/>
    <p:sldId id="408" r:id="rId23"/>
    <p:sldId id="406" r:id="rId24"/>
    <p:sldId id="407" r:id="rId2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DBF0E5-3E16-4F16-9F9C-72DD81719155}">
          <p14:sldIdLst>
            <p14:sldId id="258"/>
            <p14:sldId id="389"/>
            <p14:sldId id="390"/>
            <p14:sldId id="393"/>
            <p14:sldId id="409"/>
            <p14:sldId id="410"/>
            <p14:sldId id="411"/>
            <p14:sldId id="395"/>
            <p14:sldId id="412"/>
            <p14:sldId id="402"/>
            <p14:sldId id="396"/>
            <p14:sldId id="397"/>
            <p14:sldId id="413"/>
            <p14:sldId id="394"/>
            <p14:sldId id="399"/>
            <p14:sldId id="403"/>
            <p14:sldId id="400"/>
            <p14:sldId id="398"/>
            <p14:sldId id="401"/>
            <p14:sldId id="404"/>
            <p14:sldId id="405"/>
            <p14:sldId id="408"/>
            <p14:sldId id="406"/>
            <p14:sldId id="407"/>
          </p14:sldIdLst>
        </p14:section>
        <p14:section name="Untitled Section" id="{6F3CB948-DBCE-4B70-9604-7FC248C2EC0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B4DFE3-29E5-48B1-8E7A-185C4103D846}" v="173" dt="2025-10-27T01:38:20.0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172" autoAdjust="0"/>
  </p:normalViewPr>
  <p:slideViewPr>
    <p:cSldViewPr snapToGrid="0">
      <p:cViewPr varScale="1">
        <p:scale>
          <a:sx n="77" d="100"/>
          <a:sy n="77" d="100"/>
        </p:scale>
        <p:origin x="72" y="96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2AF92E9-027F-4C02-93DA-4F32B304764E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7581BC1-9D74-4B93-8B63-0DCA8666D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750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72338-8952-269E-E7F6-C254C55A6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7AC09-94D9-BDFE-6652-F4EBFB677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A55D4-5EE5-9BFC-DF49-C0C4D8A0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A2C0F-234D-9254-8029-5CC78CE5A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86676-E218-39A3-C9FE-3C7B4F256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28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8000-95AF-E296-978C-0D65D0AB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373BB-55F3-80A9-B16D-8CDD0F8B9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575C1-7C5E-8D4A-B016-F654239C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E9127-E354-80D3-9C85-365008F4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91B7-DFD0-1172-4A56-45F207B9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136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2985A-5E90-7B21-DA56-7AF0BACCB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788CD-E897-C13E-BF3D-AC9CD4C71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385A8-E7EC-1DE0-40C3-1BA3843AC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D725-8CA4-2B3A-2959-FF44CB594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32FE2-ED8B-F176-51B2-9964ACE7A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76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98E7-AC18-7D34-0A5C-A19204A8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3EC9E-7396-A1FB-ED61-4F75D62D2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AF454-60E1-1892-1DC6-183BBB511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74E2E-271A-F63D-1E46-9CA740A3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C79AE-65B7-940B-8A6F-1048EAEF8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C1420-C245-560B-CC6C-4500C5BF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814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8F090-ED1C-396F-F86A-3237BF23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4FBCF-F4B5-45D3-2ACE-6F2E7B3AC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667D4-2269-9C25-367F-59D5AA310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67E65-C0B2-1558-5338-0C33971DF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A86EF-7DC0-1937-2CFA-285E6398A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D917E-FD81-FB04-C5DE-8120FE916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06BA8C-96B1-64AE-FB01-A3D23A393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6F6342-BCE7-6429-4E1F-4B6029DD1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89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5391-F177-10C4-C5D8-6D107978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8BB3A0-E45F-AE89-AAAA-DAE638BFF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DF7E6-4F8E-E52D-1105-0C42C194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9ACFF-164F-90CA-0C1D-8CDEBF1A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16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106517-CCF2-42E0-5D5F-3AFBFB67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AA0E0-1A67-CA37-7E61-4B3F5F32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F05B4-4E5B-DBA0-C77C-3DFBB28CE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93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94BE-8CCC-34C6-B641-BE80BE23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93A73-F7A2-FB23-1FF3-91DFD9FFE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970CF-E369-0A19-1E8B-38E333999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37C4F-82B8-3C3E-780D-1A47965D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E39F2-F31B-65C4-0FF8-8C602C220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D1D10-70AD-0645-1070-85DA365D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067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7348-29D1-4A6C-DFDE-DBC0F5289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F4D576-FBDF-48C9-0AC4-0D02A9AF9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01160-20B3-09DB-8446-BC92A6434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94566-D492-EAE4-1BD3-8D98025BE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3C626-C3C2-5A97-78D9-3CD822210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04FF7-47B3-2E23-CC6A-8E8E4C9A3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67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94F2-E91F-01B5-03A4-ED6BA62A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4A955-BDF6-F20D-C94C-DB08982F0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AB5A6-E59D-46D7-DC26-E225420C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34F7F-5691-2BA2-2C0B-C9462B27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C0557-E7BD-5BB4-0157-24A948CB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945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3251D3-0121-6A28-02F9-32CA210EF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2CEE8-D705-8AC1-6C00-DBA7946C3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C42EE-BA50-4663-FE95-C6EA3B788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112FD-5428-CF39-7B6C-7F8A83A0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60F48-F50D-D1A6-F646-35540C2F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01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0A38AD-2C6D-2A13-4B4B-23403A5DB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868A8-FDA7-D5AC-FCE4-DD8CF1C03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D6E86-07A3-28BC-C7D0-5BB23386C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F026E-D685-4C4E-90D4-AAF4FBF91AD7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C5CD4-DF64-E672-5616-019ADC902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BCBA-CABA-F658-0B8C-9F6472F16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3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17" Type="http://schemas.openxmlformats.org/officeDocument/2006/relationships/image" Target="../media/image19.sv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11836" y="4698185"/>
            <a:ext cx="3398293" cy="1220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Submitted By:</a:t>
            </a: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Name:- Aditi Agrawal</a:t>
            </a:r>
          </a:p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Roll No.:- 23ESKCA003</a:t>
            </a: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334" y="1374826"/>
            <a:ext cx="322447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Training </a:t>
            </a:r>
          </a:p>
          <a:p>
            <a:pPr algn="ctr"/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kit.ac.in/images/headers/skit_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125277" y="314579"/>
            <a:ext cx="1037978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Swami Keshvanand Institute of Technology, Management &amp; </a:t>
            </a: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Gramothan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Jaipur</a:t>
            </a:r>
          </a:p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Institute Affiliated to Rajasthan Technical University, Kota)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473" y="4698185"/>
            <a:ext cx="3398293" cy="1220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Submitted To:</a:t>
            </a: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Name:- Ms. Himani Thakur</a:t>
            </a:r>
          </a:p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Assistant Professor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866321" y="2681296"/>
            <a:ext cx="48999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u="sng" dirty="0">
                <a:solidFill>
                  <a:srgbClr val="0F0F0F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TOPIC:   </a:t>
            </a:r>
            <a:r>
              <a:rPr lang="en-US" sz="3600" b="1" u="sng" dirty="0" err="1">
                <a:solidFill>
                  <a:srgbClr val="0F0F0F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DEVenue</a:t>
            </a:r>
            <a:endParaRPr lang="en-US" sz="3600" b="1" i="1" u="sng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https://www.skit.ac.in/images/headers/swamiji_phot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0907" y="174677"/>
            <a:ext cx="739222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555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sz="3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408573" y="979040"/>
            <a:ext cx="692427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Introduction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Certificate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Training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Project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530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Introduction</a:t>
            </a:r>
            <a:endParaRPr lang="en-IN" sz="3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1026" name="Picture 2" descr="Compucom Software Ltd-CSL | LinkedIn">
            <a:extLst>
              <a:ext uri="{FF2B5EF4-FFF2-40B4-BE49-F238E27FC236}">
                <a16:creationId xmlns:a16="http://schemas.microsoft.com/office/drawing/2014/main" id="{FCFE8777-FC77-E9A7-A8EC-7074C2DFD3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84" b="22624"/>
          <a:stretch>
            <a:fillRect/>
          </a:stretch>
        </p:blipFill>
        <p:spPr bwMode="auto">
          <a:xfrm>
            <a:off x="9557819" y="5169005"/>
            <a:ext cx="2229758" cy="133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www.skit.ac.in/images/headers/skit_logo.png">
            <a:extLst>
              <a:ext uri="{FF2B5EF4-FFF2-40B4-BE49-F238E27FC236}">
                <a16:creationId xmlns:a16="http://schemas.microsoft.com/office/drawing/2014/main" id="{4D6B58DE-D5B3-A843-94E5-84337CC85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36D73A-E033-A640-92BC-010416C97E05}"/>
              </a:ext>
            </a:extLst>
          </p:cNvPr>
          <p:cNvSpPr txBox="1"/>
          <p:nvPr/>
        </p:nvSpPr>
        <p:spPr>
          <a:xfrm>
            <a:off x="2260978" y="1212512"/>
            <a:ext cx="941726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 err="1"/>
              <a:t>Compucom</a:t>
            </a:r>
            <a:r>
              <a:rPr lang="en-GB" sz="2600" b="1" dirty="0"/>
              <a:t> Software Limited (CSL)</a:t>
            </a:r>
            <a:r>
              <a:rPr lang="en-GB" sz="2600" dirty="0"/>
              <a:t> is a leading IT solutions and services company headquartered in </a:t>
            </a:r>
            <a:r>
              <a:rPr lang="en-GB" sz="2600" b="1" dirty="0"/>
              <a:t>Jaipur, Rajasthan, India</a:t>
            </a:r>
            <a:r>
              <a:rPr lang="en-GB" sz="2600" dirty="0"/>
              <a:t>. Established in </a:t>
            </a:r>
            <a:r>
              <a:rPr lang="en-GB" sz="2600" b="1" dirty="0"/>
              <a:t>1995</a:t>
            </a:r>
            <a:r>
              <a:rPr lang="en-GB" sz="2600" dirty="0"/>
              <a:t>, CSL specializes in </a:t>
            </a:r>
            <a:r>
              <a:rPr lang="en-GB" sz="2600" b="1" dirty="0"/>
              <a:t>custom software development, web and mobile applications, cloud solutions, and IT consulting</a:t>
            </a:r>
            <a:r>
              <a:rPr lang="en-GB" sz="2600" dirty="0"/>
              <a:t>. The company is located at </a:t>
            </a:r>
            <a:r>
              <a:rPr lang="en-GB" sz="2600" b="1" dirty="0"/>
              <a:t>IT-14-15, EPIP, </a:t>
            </a:r>
            <a:r>
              <a:rPr lang="en-GB" sz="2600" b="1" dirty="0" err="1"/>
              <a:t>Sitapura</a:t>
            </a:r>
            <a:r>
              <a:rPr lang="en-GB" sz="2600" b="1" dirty="0"/>
              <a:t> Industrial Area, Jaipur – 302022</a:t>
            </a:r>
            <a:r>
              <a:rPr lang="en-GB" sz="2600" dirty="0"/>
              <a:t>, a prominent IT hub in the region. CSL operates primarily from this corporate office and has a </a:t>
            </a:r>
            <a:r>
              <a:rPr lang="en-GB" sz="2600" b="1" dirty="0"/>
              <a:t>global presence</a:t>
            </a:r>
            <a:r>
              <a:rPr lang="en-GB" sz="2600" dirty="0"/>
              <a:t>, serving clients across multiple industries worldwide. The company emphasizes </a:t>
            </a:r>
            <a:r>
              <a:rPr lang="en-GB" sz="2600" b="1" dirty="0"/>
              <a:t>quality, technology adoption, and customer satisfaction</a:t>
            </a:r>
            <a:r>
              <a:rPr lang="en-GB" sz="2600" dirty="0"/>
              <a:t>, providing a strong platform for learning and professional growth.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602055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8AC2C-F627-F9E5-6CBF-49DD8705D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ertificate&#10;&#10;AI-generated content may be incorrect.">
            <a:extLst>
              <a:ext uri="{FF2B5EF4-FFF2-40B4-BE49-F238E27FC236}">
                <a16:creationId xmlns:a16="http://schemas.microsoft.com/office/drawing/2014/main" id="{24093CF9-EB5F-8700-4298-C260758A7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061" y="-13950"/>
            <a:ext cx="6877878" cy="68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8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B49B3-C620-60B7-7A55-68C2748E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58A8D1-50D1-A249-164F-D6FF66E1201C}"/>
              </a:ext>
            </a:extLst>
          </p:cNvPr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Used</a:t>
            </a:r>
            <a:endParaRPr lang="en-IN" sz="3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A2519D-2211-7367-0DBF-5BF0C8F89E85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>
            <a:extLst>
              <a:ext uri="{FF2B5EF4-FFF2-40B4-BE49-F238E27FC236}">
                <a16:creationId xmlns:a16="http://schemas.microsoft.com/office/drawing/2014/main" id="{D94F37D1-B53D-27DA-F96D-EA9F9F1C0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43" y="124980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C70ABAE-D0C8-25D7-E711-CB7CF3A69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641" y="1047825"/>
            <a:ext cx="1071815" cy="95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FAD7BF5-58D7-F506-E49B-7B582D570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137" y="990855"/>
            <a:ext cx="967813" cy="95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388A9BC2-DD3B-5462-91BD-66CF48395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428" y="1116028"/>
            <a:ext cx="1281971" cy="78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8" descr="daisyUI Logo — daisyUI Tailwind CSS Component UI Library">
            <a:extLst>
              <a:ext uri="{FF2B5EF4-FFF2-40B4-BE49-F238E27FC236}">
                <a16:creationId xmlns:a16="http://schemas.microsoft.com/office/drawing/2014/main" id="{8B91B5EB-2736-571B-39F7-7DEBF4A0A4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75559" y="13619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10" descr="daisyUI Logo — daisyUI Tailwind CSS Component UI Library">
            <a:extLst>
              <a:ext uri="{FF2B5EF4-FFF2-40B4-BE49-F238E27FC236}">
                <a16:creationId xmlns:a16="http://schemas.microsoft.com/office/drawing/2014/main" id="{4A9B34ED-96E6-24B2-DEA0-59F1F32CB5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12" descr="daisyUI Logo — daisyUI Tailwind CSS Component UI Library">
            <a:extLst>
              <a:ext uri="{FF2B5EF4-FFF2-40B4-BE49-F238E27FC236}">
                <a16:creationId xmlns:a16="http://schemas.microsoft.com/office/drawing/2014/main" id="{DB0F21D2-FFDB-BD8A-8787-51168BE029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4" descr="daisyUI Logo — daisyUI Tailwind CSS Component UI Library">
            <a:extLst>
              <a:ext uri="{FF2B5EF4-FFF2-40B4-BE49-F238E27FC236}">
                <a16:creationId xmlns:a16="http://schemas.microsoft.com/office/drawing/2014/main" id="{E758A143-16EB-C497-202D-6FF9575409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1757" y="1944757"/>
            <a:ext cx="2093843" cy="2093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6" descr="Redux SVG and transparent PNG icons | TechIcons">
            <a:extLst>
              <a:ext uri="{FF2B5EF4-FFF2-40B4-BE49-F238E27FC236}">
                <a16:creationId xmlns:a16="http://schemas.microsoft.com/office/drawing/2014/main" id="{6DBD30F9-0933-4433-AEC8-435C426CA4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18" descr="daisyUI Logo — daisyUI Tailwind CSS Component UI Library">
            <a:extLst>
              <a:ext uri="{FF2B5EF4-FFF2-40B4-BE49-F238E27FC236}">
                <a16:creationId xmlns:a16="http://schemas.microsoft.com/office/drawing/2014/main" id="{D05C477D-07F1-0969-DABA-A812FAD49F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8026" y="921026"/>
            <a:ext cx="3269974" cy="326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D6D40B3-0FF6-C386-5B78-00D2BC4287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73009" y="964486"/>
            <a:ext cx="3869285" cy="1404459"/>
          </a:xfrm>
          <a:prstGeom prst="rect">
            <a:avLst/>
          </a:prstGeom>
        </p:spPr>
      </p:pic>
      <p:sp>
        <p:nvSpPr>
          <p:cNvPr id="14" name="AutoShape 20" descr="Redux SVG and transparent PNG icons | TechIcons">
            <a:extLst>
              <a:ext uri="{FF2B5EF4-FFF2-40B4-BE49-F238E27FC236}">
                <a16:creationId xmlns:a16="http://schemas.microsoft.com/office/drawing/2014/main" id="{80EB213B-82EF-0339-9E54-2DC9EBB444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0EEEBE7-ED86-51E0-4492-6B92087EAC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3500" y="985523"/>
            <a:ext cx="1057586" cy="1057586"/>
          </a:xfrm>
          <a:prstGeom prst="rect">
            <a:avLst/>
          </a:prstGeom>
        </p:spPr>
      </p:pic>
      <p:pic>
        <p:nvPicPr>
          <p:cNvPr id="18" name="Picture 17" descr="A group of logos on a black background&#10;&#10;AI-generated content may be incorrect.">
            <a:extLst>
              <a:ext uri="{FF2B5EF4-FFF2-40B4-BE49-F238E27FC236}">
                <a16:creationId xmlns:a16="http://schemas.microsoft.com/office/drawing/2014/main" id="{6D6E773F-E6D4-95F7-F8FE-5AE2BCB44A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492" y="2281282"/>
            <a:ext cx="2371458" cy="1452518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2505DFF-70AF-883E-8291-DB275F63359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66741" y="2153441"/>
            <a:ext cx="1580359" cy="1580359"/>
          </a:xfrm>
          <a:prstGeom prst="rect">
            <a:avLst/>
          </a:prstGeom>
        </p:spPr>
      </p:pic>
      <p:pic>
        <p:nvPicPr>
          <p:cNvPr id="22" name="Picture 2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F99BA41F-967E-A603-1D48-CBEF3CCADA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732" y="2296999"/>
            <a:ext cx="3912453" cy="1057585"/>
          </a:xfrm>
          <a:prstGeom prst="rect">
            <a:avLst/>
          </a:prstGeom>
        </p:spPr>
      </p:pic>
      <p:pic>
        <p:nvPicPr>
          <p:cNvPr id="24" name="Picture 23" descr="A black and white logo&#10;&#10;AI-generated content may be incorrect.">
            <a:extLst>
              <a:ext uri="{FF2B5EF4-FFF2-40B4-BE49-F238E27FC236}">
                <a16:creationId xmlns:a16="http://schemas.microsoft.com/office/drawing/2014/main" id="{D89BD89B-9F3A-6DA1-5403-FBD654AC6E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245" y="4906365"/>
            <a:ext cx="1392475" cy="1392475"/>
          </a:xfrm>
          <a:prstGeom prst="rect">
            <a:avLst/>
          </a:prstGeom>
        </p:spPr>
      </p:pic>
      <p:pic>
        <p:nvPicPr>
          <p:cNvPr id="26" name="Picture 25" descr="A shield with text on it&#10;&#10;AI-generated content may be incorrect.">
            <a:extLst>
              <a:ext uri="{FF2B5EF4-FFF2-40B4-BE49-F238E27FC236}">
                <a16:creationId xmlns:a16="http://schemas.microsoft.com/office/drawing/2014/main" id="{0F92F167-E6C9-5D30-F1DB-F7EBCFBEC98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400" y="4074552"/>
            <a:ext cx="1718137" cy="171813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0640FAC-D580-2112-0881-03D069600EA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933494" y="3581400"/>
            <a:ext cx="1608800" cy="1608800"/>
          </a:xfrm>
          <a:prstGeom prst="rect">
            <a:avLst/>
          </a:prstGeom>
        </p:spPr>
      </p:pic>
      <p:pic>
        <p:nvPicPr>
          <p:cNvPr id="30" name="Picture 29" descr="A logo with colorful lines&#10;&#10;AI-generated content may be incorrect.">
            <a:extLst>
              <a:ext uri="{FF2B5EF4-FFF2-40B4-BE49-F238E27FC236}">
                <a16:creationId xmlns:a16="http://schemas.microsoft.com/office/drawing/2014/main" id="{2326947C-C21D-48AC-8E3C-73FCAB6AEEE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16" b="31869"/>
          <a:stretch>
            <a:fillRect/>
          </a:stretch>
        </p:blipFill>
        <p:spPr>
          <a:xfrm>
            <a:off x="4563855" y="3823881"/>
            <a:ext cx="3027231" cy="1111459"/>
          </a:xfrm>
          <a:prstGeom prst="rect">
            <a:avLst/>
          </a:prstGeom>
        </p:spPr>
      </p:pic>
      <p:pic>
        <p:nvPicPr>
          <p:cNvPr id="32" name="Picture 31" descr="A black and white cat logo&#10;&#10;AI-generated content may be incorrect.">
            <a:extLst>
              <a:ext uri="{FF2B5EF4-FFF2-40B4-BE49-F238E27FC236}">
                <a16:creationId xmlns:a16="http://schemas.microsoft.com/office/drawing/2014/main" id="{3583C998-5E2B-75D1-7E34-A0077BB362C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0"/>
          <a:stretch>
            <a:fillRect/>
          </a:stretch>
        </p:blipFill>
        <p:spPr>
          <a:xfrm>
            <a:off x="7739659" y="3625665"/>
            <a:ext cx="1953308" cy="178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62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FDFB7-CEDE-6E1B-BADE-7121C544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6D51D6-6A2A-4E6E-9B85-E773D28CB6E6}"/>
              </a:ext>
            </a:extLst>
          </p:cNvPr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Goal Of Training</a:t>
            </a:r>
            <a:endParaRPr lang="en-IN" sz="3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8EB3F1-3C4E-7528-5103-A84936DCAC21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>
            <a:extLst>
              <a:ext uri="{FF2B5EF4-FFF2-40B4-BE49-F238E27FC236}">
                <a16:creationId xmlns:a16="http://schemas.microsoft.com/office/drawing/2014/main" id="{E278EB15-C623-9050-7C86-2163130AE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51" y="112764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300B82-6659-1CC4-2098-D8975428F532}"/>
              </a:ext>
            </a:extLst>
          </p:cNvPr>
          <p:cNvSpPr txBox="1"/>
          <p:nvPr/>
        </p:nvSpPr>
        <p:spPr>
          <a:xfrm>
            <a:off x="2260980" y="1172817"/>
            <a:ext cx="938437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600" dirty="0"/>
              <a:t>To gain </a:t>
            </a:r>
            <a:r>
              <a:rPr lang="en-GB" sz="2600" b="1" dirty="0"/>
              <a:t>hands-on experience with full-stack web development</a:t>
            </a:r>
            <a:r>
              <a:rPr lang="en-GB" sz="2600" dirty="0"/>
              <a:t> using the </a:t>
            </a:r>
            <a:r>
              <a:rPr lang="en-GB" sz="2600" b="1" dirty="0"/>
              <a:t>MERN stack (MongoDB, Express.js, React.js, Node.js)</a:t>
            </a:r>
            <a:r>
              <a:rPr lang="en-GB" sz="2600" dirty="0"/>
              <a:t> and </a:t>
            </a:r>
            <a:r>
              <a:rPr lang="en-GB" sz="2600" b="1" dirty="0"/>
              <a:t>Redux</a:t>
            </a:r>
            <a:r>
              <a:rPr lang="en-GB" sz="2600" dirty="0"/>
              <a:t> for state management.</a:t>
            </a:r>
          </a:p>
          <a:p>
            <a:pPr marL="342900" indent="-342900">
              <a:buAutoNum type="arabicPeriod"/>
            </a:pPr>
            <a:r>
              <a:rPr lang="en-GB" sz="2600" dirty="0"/>
              <a:t>To learn </a:t>
            </a:r>
            <a:r>
              <a:rPr lang="en-GB" sz="2600" b="1" dirty="0"/>
              <a:t>end-to-end project development</a:t>
            </a:r>
            <a:r>
              <a:rPr lang="en-GB" sz="2600" dirty="0"/>
              <a:t>, including </a:t>
            </a:r>
            <a:r>
              <a:rPr lang="en-GB" sz="2600" b="1" dirty="0"/>
              <a:t>debugging, testing, and building secure APIs</a:t>
            </a:r>
            <a:r>
              <a:rPr lang="en-GB" sz="2600" dirty="0"/>
              <a:t> using JWT and bcrypt.js.</a:t>
            </a:r>
          </a:p>
          <a:p>
            <a:pPr marL="342900" indent="-342900">
              <a:buAutoNum type="arabicPeriod"/>
            </a:pPr>
            <a:r>
              <a:rPr lang="en-GB" sz="2600" dirty="0"/>
              <a:t>To explore </a:t>
            </a:r>
            <a:r>
              <a:rPr lang="en-GB" sz="2600" b="1" dirty="0"/>
              <a:t>real-time features</a:t>
            </a:r>
            <a:r>
              <a:rPr lang="en-GB" sz="2600" dirty="0"/>
              <a:t> using </a:t>
            </a:r>
            <a:r>
              <a:rPr lang="en-GB" sz="2600" b="1" dirty="0"/>
              <a:t>Socket.io</a:t>
            </a:r>
            <a:r>
              <a:rPr lang="en-GB" sz="2600" dirty="0"/>
              <a:t> and understand client-server interactions for dynamic applications.</a:t>
            </a:r>
          </a:p>
          <a:p>
            <a:pPr marL="342900" indent="-342900">
              <a:buAutoNum type="arabicPeriod"/>
            </a:pPr>
            <a:r>
              <a:rPr lang="en-GB" sz="2600" dirty="0"/>
              <a:t>To develop </a:t>
            </a:r>
            <a:r>
              <a:rPr lang="en-GB" sz="2600" b="1" dirty="0"/>
              <a:t>professional skills</a:t>
            </a:r>
            <a:r>
              <a:rPr lang="en-GB" sz="2600" dirty="0"/>
              <a:t> such as effective </a:t>
            </a:r>
            <a:r>
              <a:rPr lang="en-GB" sz="2600" b="1" dirty="0"/>
              <a:t>teamwork, communication, and collaboration</a:t>
            </a:r>
            <a:r>
              <a:rPr lang="en-GB" sz="2600" dirty="0"/>
              <a:t> in a project environment.</a:t>
            </a:r>
          </a:p>
          <a:p>
            <a:pPr marL="342900" indent="-342900">
              <a:buAutoNum type="arabicPeriod"/>
            </a:pPr>
            <a:r>
              <a:rPr lang="en-GB" sz="2600" dirty="0"/>
              <a:t>To strengthen expertise in </a:t>
            </a:r>
            <a:r>
              <a:rPr lang="en-GB" sz="2600" b="1" dirty="0"/>
              <a:t>version control, API testing, and deployment workflows</a:t>
            </a:r>
            <a:r>
              <a:rPr lang="en-GB" sz="2600" dirty="0"/>
              <a:t> while applying all skills to build </a:t>
            </a:r>
            <a:r>
              <a:rPr lang="en-GB" sz="2600" b="1" dirty="0"/>
              <a:t>DEVenue</a:t>
            </a:r>
            <a:r>
              <a:rPr lang="en-GB" sz="2600" dirty="0"/>
              <a:t>, a developer-focused networking platform.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523679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B7893-3E2C-B185-888B-449DC539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7100FF-8A0A-C237-A62D-3E4B4E45D4D9}"/>
              </a:ext>
            </a:extLst>
          </p:cNvPr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b="1" dirty="0" err="1"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DEVenue</a:t>
            </a:r>
            <a:r>
              <a:rPr lang="en-IN" sz="3200" b="1" dirty="0"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Overview</a:t>
            </a:r>
            <a:endParaRPr lang="en-IN" sz="3200" b="1" dirty="0"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234DDB-B4EB-2216-FBF7-0DBB2EA7A4E7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>
            <a:extLst>
              <a:ext uri="{FF2B5EF4-FFF2-40B4-BE49-F238E27FC236}">
                <a16:creationId xmlns:a16="http://schemas.microsoft.com/office/drawing/2014/main" id="{FA554481-8DAC-224D-D2FE-623BE3CE5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486643-8359-BEA3-609E-CD4706F76D20}"/>
              </a:ext>
            </a:extLst>
          </p:cNvPr>
          <p:cNvSpPr/>
          <p:nvPr/>
        </p:nvSpPr>
        <p:spPr>
          <a:xfrm>
            <a:off x="2260980" y="1272209"/>
            <a:ext cx="930816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600" b="1" dirty="0"/>
              <a:t>DEVenue</a:t>
            </a:r>
            <a:r>
              <a:rPr lang="en-GB" sz="2600" dirty="0"/>
              <a:t> is a </a:t>
            </a:r>
            <a:r>
              <a:rPr lang="en-GB" sz="2600" b="1" dirty="0"/>
              <a:t>social networking platform built for developers</a:t>
            </a:r>
            <a:r>
              <a:rPr lang="en-GB" sz="2600" dirty="0"/>
              <a:t>, enabling them to connect, collaborate, and grow together.</a:t>
            </a:r>
            <a:br>
              <a:rPr lang="en-GB" sz="2600" dirty="0"/>
            </a:br>
            <a:r>
              <a:rPr lang="en-GB" sz="2600" dirty="0"/>
              <a:t>It allows users to </a:t>
            </a:r>
            <a:r>
              <a:rPr lang="en-GB" sz="2600" b="1" dirty="0"/>
              <a:t>create profiles, showcase skills, connect with peers, and chat in real time</a:t>
            </a:r>
            <a:r>
              <a:rPr lang="en-GB" sz="2600" dirty="0"/>
              <a:t> using Socket.io.</a:t>
            </a:r>
            <a:br>
              <a:rPr lang="en-GB" sz="2600" dirty="0"/>
            </a:br>
            <a:r>
              <a:rPr lang="en-GB" sz="2600" dirty="0"/>
              <a:t>Built with the </a:t>
            </a:r>
            <a:r>
              <a:rPr lang="en-GB" sz="2600" b="1" dirty="0"/>
              <a:t>MERN stack</a:t>
            </a:r>
            <a:r>
              <a:rPr lang="en-GB" sz="2600" dirty="0"/>
              <a:t>, DEVenue provides a </a:t>
            </a:r>
            <a:r>
              <a:rPr lang="en-GB" sz="2600" b="1" dirty="0"/>
              <a:t>clean, responsive interface</a:t>
            </a:r>
            <a:r>
              <a:rPr lang="en-GB" sz="2600" dirty="0"/>
              <a:t> and </a:t>
            </a:r>
            <a:r>
              <a:rPr lang="en-GB" sz="2600" b="1" dirty="0"/>
              <a:t>secure authentication</a:t>
            </a:r>
            <a:r>
              <a:rPr lang="en-GB" sz="2600" dirty="0"/>
              <a:t> with JWT and bcrypt.js.</a:t>
            </a:r>
            <a:br>
              <a:rPr lang="en-GB" sz="2600" dirty="0"/>
            </a:br>
            <a:r>
              <a:rPr lang="en-GB" sz="2600" dirty="0"/>
              <a:t>The platform focuses on </a:t>
            </a:r>
            <a:r>
              <a:rPr lang="en-GB" sz="2600" b="1" dirty="0"/>
              <a:t>meaningful networking</a:t>
            </a:r>
            <a:r>
              <a:rPr lang="en-GB" sz="2600" dirty="0"/>
              <a:t> — helping developers find collaborators for projects, hackathons, and learning communities.</a:t>
            </a:r>
            <a:br>
              <a:rPr lang="en-GB" sz="2600" dirty="0"/>
            </a:br>
            <a:r>
              <a:rPr lang="en-GB" sz="2600" dirty="0"/>
              <a:t>It goes beyond traditional professional platforms by emphasizing </a:t>
            </a:r>
            <a:r>
              <a:rPr lang="en-GB" sz="2600" b="1" dirty="0"/>
              <a:t>skill-based team building and collaboration</a:t>
            </a:r>
            <a:r>
              <a:rPr lang="en-GB" sz="2600" dirty="0"/>
              <a:t>, not just job connections.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309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53AF6-C258-C3FE-0737-02ED7669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DDE4578A-6661-22D1-F7B1-D6995A633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7524"/>
            <a:ext cx="12192000" cy="5560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53653C-4BC9-D4D8-EF17-9471BC7DBC28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600" dirty="0">
                <a:latin typeface="Algerian" panose="04020705040A02060702" pitchFamily="82" charset="0"/>
              </a:rPr>
              <a:t>Login SECTION</a:t>
            </a:r>
            <a:endParaRPr lang="en-IN" sz="3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987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600">
                <a:latin typeface="Algerian" panose="04020705040A02060702" pitchFamily="82" charset="0"/>
              </a:rPr>
              <a:t>Login SECTION</a:t>
            </a:r>
            <a:endParaRPr lang="en-IN" sz="36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5695"/>
            <a:ext cx="12192000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4C79F-E44C-BE69-FA93-977B6F3C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F0D17E-9F9A-691E-AB74-64FA9FAF5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908"/>
            <a:ext cx="12192000" cy="617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407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FC0A-9189-AF72-ADF1-3CFF80006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2FBB74-1D37-DDEA-D9B3-3EF4E4794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6088"/>
            <a:ext cx="12192000" cy="55319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2B46E1-C49A-6FB2-A4AA-A7973CC2A6E9}"/>
              </a:ext>
            </a:extLst>
          </p:cNvPr>
          <p:cNvSpPr txBox="1"/>
          <p:nvPr/>
        </p:nvSpPr>
        <p:spPr>
          <a:xfrm>
            <a:off x="4502426" y="397565"/>
            <a:ext cx="3528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600" dirty="0">
                <a:latin typeface="Algerian" panose="04020705040A02060702" pitchFamily="82" charset="0"/>
              </a:rPr>
              <a:t>FEED SECTION</a:t>
            </a:r>
            <a:endParaRPr lang="en-IN" sz="3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130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90607-8849-55B4-5B00-65476450B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766E97-6E89-45C2-CB1F-0FFC04CBC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4598"/>
            <a:ext cx="12192000" cy="55634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5F30B6-22CE-AEFE-B7D3-5D33A0DC3D7F}"/>
              </a:ext>
            </a:extLst>
          </p:cNvPr>
          <p:cNvSpPr txBox="1"/>
          <p:nvPr/>
        </p:nvSpPr>
        <p:spPr>
          <a:xfrm>
            <a:off x="4134677" y="377687"/>
            <a:ext cx="44527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err="1">
                <a:latin typeface="Algerian" panose="04020705040A02060702" pitchFamily="82" charset="0"/>
              </a:rPr>
              <a:t>SigN</a:t>
            </a:r>
            <a:r>
              <a:rPr lang="en-GB" sz="3600" dirty="0">
                <a:latin typeface="Algerian" panose="04020705040A02060702" pitchFamily="82" charset="0"/>
              </a:rPr>
              <a:t> - UP SECTION</a:t>
            </a:r>
            <a:endParaRPr lang="en-IN" sz="3600" dirty="0">
              <a:latin typeface="Algerian" panose="04020705040A02060702" pitchFamily="8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2159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79E68-7820-D7FB-4956-AACC90205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A5EB76-357C-918C-45F5-DFEA9156D299}"/>
              </a:ext>
            </a:extLst>
          </p:cNvPr>
          <p:cNvSpPr txBox="1"/>
          <p:nvPr/>
        </p:nvSpPr>
        <p:spPr>
          <a:xfrm>
            <a:off x="4134677" y="377687"/>
            <a:ext cx="44527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err="1">
                <a:latin typeface="Algerian" panose="04020705040A02060702" pitchFamily="82" charset="0"/>
              </a:rPr>
              <a:t>SigN</a:t>
            </a:r>
            <a:r>
              <a:rPr lang="en-GB" sz="3600">
                <a:latin typeface="Algerian" panose="04020705040A02060702" pitchFamily="82" charset="0"/>
              </a:rPr>
              <a:t> - UP SECTION</a:t>
            </a:r>
            <a:endParaRPr lang="en-IN" sz="3600">
              <a:latin typeface="Algerian" panose="04020705040A02060702" pitchFamily="82" charset="0"/>
            </a:endParaRPr>
          </a:p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8F05E8-C18C-9654-E717-49F8F74ED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1017"/>
            <a:ext cx="12192000" cy="557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98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DD9F-4C0E-FF80-93F8-EBB41B35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C06FAC-BC78-1CB1-2CCE-5932865D1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2514"/>
            <a:ext cx="12192000" cy="55954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E98609-E51F-36BF-87B9-EC3042BEFBF1}"/>
              </a:ext>
            </a:extLst>
          </p:cNvPr>
          <p:cNvSpPr txBox="1"/>
          <p:nvPr/>
        </p:nvSpPr>
        <p:spPr>
          <a:xfrm>
            <a:off x="3697357" y="347870"/>
            <a:ext cx="5247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Algerian" panose="04020705040A02060702" pitchFamily="82" charset="0"/>
              </a:rPr>
              <a:t>EDIT PROFILE SECTION</a:t>
            </a:r>
            <a:endParaRPr lang="en-IN" sz="3600" dirty="0">
              <a:latin typeface="Algerian" panose="04020705040A02060702" pitchFamily="8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951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CE20-43D8-0C26-E688-601CBE0B4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1DEF6E-B051-99B1-7281-1DEDD87B9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8854"/>
            <a:ext cx="12192000" cy="5619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540D41-1B13-2CF2-9FB0-08CB5B80B7DA}"/>
              </a:ext>
            </a:extLst>
          </p:cNvPr>
          <p:cNvSpPr txBox="1"/>
          <p:nvPr/>
        </p:nvSpPr>
        <p:spPr>
          <a:xfrm>
            <a:off x="3985590" y="308113"/>
            <a:ext cx="4923183" cy="943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Algerian" panose="04020705040A02060702" pitchFamily="82" charset="0"/>
              </a:rPr>
              <a:t>NETWORK SECTION</a:t>
            </a:r>
            <a:endParaRPr lang="en-IN" sz="3600" dirty="0">
              <a:latin typeface="Algerian" panose="04020705040A02060702" pitchFamily="8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6899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8503B-8BF9-F61B-4DDF-52795AB2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21905E-0B63-F31E-8255-A857A4C03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752"/>
            <a:ext cx="12192000" cy="611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47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1636-6B15-C448-640B-14E4FCC3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92C8F1-32F8-13E0-AB72-0F27471FE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613"/>
            <a:ext cx="12192000" cy="55863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6E4720-56E7-32AB-158E-1CA8296C2A16}"/>
              </a:ext>
            </a:extLst>
          </p:cNvPr>
          <p:cNvSpPr txBox="1"/>
          <p:nvPr/>
        </p:nvSpPr>
        <p:spPr>
          <a:xfrm>
            <a:off x="4224130" y="337930"/>
            <a:ext cx="457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Algerian" panose="04020705040A02060702" pitchFamily="82" charset="0"/>
              </a:rPr>
              <a:t>NETWORK SECTION</a:t>
            </a:r>
            <a:endParaRPr lang="en-IN" sz="3600" dirty="0">
              <a:latin typeface="Algerian" panose="04020705040A02060702" pitchFamily="82" charset="0"/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4546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68E9F-9015-82B0-8B00-3EB6BB834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C6C298-0A51-3D83-C722-6363D540C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9772"/>
            <a:ext cx="12192000" cy="54982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A934E4-F198-49D6-F1F8-216DA5488CFC}"/>
              </a:ext>
            </a:extLst>
          </p:cNvPr>
          <p:cNvSpPr txBox="1"/>
          <p:nvPr/>
        </p:nvSpPr>
        <p:spPr>
          <a:xfrm>
            <a:off x="3836503" y="337931"/>
            <a:ext cx="48403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Algerian" panose="04020705040A02060702" pitchFamily="82" charset="0"/>
              </a:rPr>
              <a:t>INVITATIONS SECTION</a:t>
            </a:r>
            <a:endParaRPr lang="en-IN" sz="3600" dirty="0">
              <a:latin typeface="Algerian" panose="04020705040A02060702" pitchFamily="82" charset="0"/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376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A569B-DB26-7334-6E97-975F894AD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28432F-B624-87B2-09EB-1FDE48B2B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4000"/>
            <a:ext cx="12192000" cy="566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2345D2-368B-57E2-EA53-D25A73AF6A3A}"/>
              </a:ext>
            </a:extLst>
          </p:cNvPr>
          <p:cNvSpPr txBox="1"/>
          <p:nvPr/>
        </p:nvSpPr>
        <p:spPr>
          <a:xfrm>
            <a:off x="4412974" y="387626"/>
            <a:ext cx="3766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Algerian" panose="04020705040A02060702" pitchFamily="82" charset="0"/>
              </a:rPr>
              <a:t>CHAT SECTION</a:t>
            </a:r>
            <a:endParaRPr lang="en-IN" sz="3600" dirty="0">
              <a:latin typeface="Algerian" panose="04020705040A02060702" pitchFamily="82" charset="0"/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388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0057F-6C54-4B60-6370-5FD81474E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86FCF8-CA59-87D1-D6CE-43226D4BD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255"/>
            <a:ext cx="12192000" cy="633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44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FCFF7-178F-799C-501B-CDA9AF823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20A988-A912-60DE-DEF7-C33C1F151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5070"/>
            <a:ext cx="12192000" cy="6012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1BF957-7084-4600-1D18-AD1A1CCF16D9}"/>
              </a:ext>
            </a:extLst>
          </p:cNvPr>
          <p:cNvSpPr txBox="1"/>
          <p:nvPr/>
        </p:nvSpPr>
        <p:spPr>
          <a:xfrm>
            <a:off x="4283765" y="168966"/>
            <a:ext cx="2961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Algerian" panose="04020705040A02060702" pitchFamily="82" charset="0"/>
              </a:rPr>
              <a:t>API TESTING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498279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FBED9-28E5-221C-6A64-6432421D9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DF50DB-0302-5301-00BD-58A237AE7812}"/>
              </a:ext>
            </a:extLst>
          </p:cNvPr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Future Scope</a:t>
            </a:r>
            <a:endParaRPr lang="en-IN" sz="3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41C461-C82B-5E14-F923-9892FAF1227E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3" name="Picture 2" descr="https://www.skit.ac.in/images/headers/skit_logo.png">
            <a:extLst>
              <a:ext uri="{FF2B5EF4-FFF2-40B4-BE49-F238E27FC236}">
                <a16:creationId xmlns:a16="http://schemas.microsoft.com/office/drawing/2014/main" id="{9BFA1B7A-D591-B83A-A173-1D09E18AE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20219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8AE59E-FC7D-60FA-03A8-649C4BA1D713}"/>
              </a:ext>
            </a:extLst>
          </p:cNvPr>
          <p:cNvSpPr txBox="1"/>
          <p:nvPr/>
        </p:nvSpPr>
        <p:spPr>
          <a:xfrm>
            <a:off x="2260979" y="1220370"/>
            <a:ext cx="941726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1. Enhanced UI &amp; Personalized Dashboard. </a:t>
            </a:r>
            <a:br>
              <a:rPr lang="en-GB" sz="3200" dirty="0"/>
            </a:br>
            <a:endParaRPr lang="en-GB" sz="3200" dirty="0"/>
          </a:p>
          <a:p>
            <a:r>
              <a:rPr lang="en-GB" sz="3200" b="1" dirty="0"/>
              <a:t>2. Premium Membership Features (</a:t>
            </a:r>
            <a:r>
              <a:rPr lang="en-GB" sz="3200" b="1" dirty="0" err="1"/>
              <a:t>Razorpay</a:t>
            </a:r>
            <a:r>
              <a:rPr lang="en-GB" sz="3200" b="1" dirty="0"/>
              <a:t> Integration).</a:t>
            </a:r>
            <a:br>
              <a:rPr lang="en-GB" sz="3200" dirty="0"/>
            </a:br>
            <a:br>
              <a:rPr lang="en-GB" sz="3200" dirty="0"/>
            </a:br>
            <a:r>
              <a:rPr lang="en-GB" sz="3200" b="1" dirty="0"/>
              <a:t>3. Hackathon Collaboration &amp; Smart Team Formation.</a:t>
            </a:r>
            <a:br>
              <a:rPr lang="en-GB" sz="3200" dirty="0"/>
            </a:br>
            <a:br>
              <a:rPr lang="en-GB" sz="3200" dirty="0"/>
            </a:br>
            <a:r>
              <a:rPr lang="en-GB" sz="3200" b="1" dirty="0"/>
              <a:t>4. Developer Portfolio &amp; Project Showcase.</a:t>
            </a:r>
            <a:br>
              <a:rPr lang="en-GB" sz="3200" dirty="0"/>
            </a:br>
            <a:br>
              <a:rPr lang="en-GB" sz="3200" dirty="0"/>
            </a:br>
            <a:r>
              <a:rPr lang="en-GB" sz="3200" b="1" dirty="0"/>
              <a:t>5. Community &amp; Learning Hub.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66830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572F-75C8-51C7-2D23-317B1FADA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B1060B-24A3-C8C4-4B2C-9D182C6241E4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>
            <a:extLst>
              <a:ext uri="{FF2B5EF4-FFF2-40B4-BE49-F238E27FC236}">
                <a16:creationId xmlns:a16="http://schemas.microsoft.com/office/drawing/2014/main" id="{22935292-DBAA-A732-7359-C62E1454E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5686E3-C3CA-7DEE-85F2-6C9F068CE54C}"/>
              </a:ext>
            </a:extLst>
          </p:cNvPr>
          <p:cNvSpPr txBox="1"/>
          <p:nvPr/>
        </p:nvSpPr>
        <p:spPr>
          <a:xfrm>
            <a:off x="4790661" y="2355573"/>
            <a:ext cx="2753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solidFill>
                  <a:srgbClr val="C00000"/>
                </a:solidFill>
                <a:latin typeface="Aptos" panose="020B0004020202020204" pitchFamily="34" charset="0"/>
              </a:rPr>
              <a:t>Q &amp; A </a:t>
            </a:r>
            <a:endParaRPr lang="en-IN" sz="7200" b="1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775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4EDE-4C81-BC05-F776-C1224477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69C023-8F6B-49AB-C8BA-1680CC1F02EE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>
            <a:extLst>
              <a:ext uri="{FF2B5EF4-FFF2-40B4-BE49-F238E27FC236}">
                <a16:creationId xmlns:a16="http://schemas.microsoft.com/office/drawing/2014/main" id="{9073AF53-46D8-C7B7-2953-08CE8E6BF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A2E62B-1203-8231-4DD3-FDAFDC5687F6}"/>
              </a:ext>
            </a:extLst>
          </p:cNvPr>
          <p:cNvSpPr txBox="1"/>
          <p:nvPr/>
        </p:nvSpPr>
        <p:spPr>
          <a:xfrm>
            <a:off x="3995530" y="2315817"/>
            <a:ext cx="46117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solidFill>
                  <a:srgbClr val="C00000"/>
                </a:solidFill>
                <a:latin typeface="Aptos" panose="020B0004020202020204" pitchFamily="34" charset="0"/>
              </a:rPr>
              <a:t>Thank You</a:t>
            </a:r>
            <a:endParaRPr lang="en-IN" sz="7200" b="1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677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75197</TotalTime>
  <Words>661</Words>
  <Application>Microsoft Office PowerPoint</Application>
  <PresentationFormat>Widescreen</PresentationFormat>
  <Paragraphs>60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Subodh Srivastava</dc:creator>
  <cp:lastModifiedBy>Aditi Agrawal</cp:lastModifiedBy>
  <cp:revision>256</cp:revision>
  <dcterms:created xsi:type="dcterms:W3CDTF">2022-05-04T15:19:53Z</dcterms:created>
  <dcterms:modified xsi:type="dcterms:W3CDTF">2025-10-26T14:12:19Z</dcterms:modified>
</cp:coreProperties>
</file>