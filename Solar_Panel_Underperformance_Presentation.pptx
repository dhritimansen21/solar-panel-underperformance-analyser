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389" r:id="rId3"/>
    <p:sldId id="390" r:id="rId4"/>
    <p:sldId id="393" r:id="rId5"/>
    <p:sldId id="409" r:id="rId6"/>
    <p:sldId id="410" r:id="rId7"/>
    <p:sldId id="411" r:id="rId8"/>
    <p:sldId id="395" r:id="rId9"/>
    <p:sldId id="412" r:id="rId10"/>
    <p:sldId id="402" r:id="rId11"/>
    <p:sldId id="396" r:id="rId12"/>
    <p:sldId id="397" r:id="rId13"/>
    <p:sldId id="413" r:id="rId14"/>
    <p:sldId id="394" r:id="rId15"/>
    <p:sldId id="399" r:id="rId16"/>
    <p:sldId id="400" r:id="rId17"/>
    <p:sldId id="398" r:id="rId18"/>
    <p:sldId id="408" r:id="rId19"/>
    <p:sldId id="406" r:id="rId20"/>
    <p:sldId id="407" r:id="rId2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DBF0E5-3E16-4F16-9F9C-72DD81719155}">
          <p14:sldIdLst>
            <p14:sldId id="258"/>
            <p14:sldId id="389"/>
            <p14:sldId id="390"/>
            <p14:sldId id="393"/>
            <p14:sldId id="409"/>
            <p14:sldId id="410"/>
            <p14:sldId id="411"/>
            <p14:sldId id="395"/>
            <p14:sldId id="412"/>
            <p14:sldId id="402"/>
            <p14:sldId id="396"/>
            <p14:sldId id="397"/>
            <p14:sldId id="413"/>
            <p14:sldId id="394"/>
            <p14:sldId id="399"/>
            <p14:sldId id="400"/>
            <p14:sldId id="398"/>
            <p14:sldId id="408"/>
            <p14:sldId id="406"/>
            <p14:sldId id="407"/>
          </p14:sldIdLst>
        </p14:section>
        <p14:section name="Untitled Section" id="{6F3CB948-DBCE-4B70-9604-7FC248C2EC0D}">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4DFE3-29E5-48B1-8E7A-185C4103D846}" v="173" dt="2025-10-27T01:38:20.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172" autoAdjust="0"/>
  </p:normalViewPr>
  <p:slideViewPr>
    <p:cSldViewPr snapToGrid="0">
      <p:cViewPr varScale="1">
        <p:scale>
          <a:sx n="83" d="100"/>
          <a:sy n="83" d="100"/>
        </p:scale>
        <p:origin x="426" y="45"/>
      </p:cViewPr>
      <p:guideLst>
        <p:guide orient="horz" pos="2160"/>
        <p:guide pos="384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2AF92E9-027F-4C02-93DA-4F32B304764E}" type="datetimeFigureOut">
              <a:rPr lang="en-IN" smtClean="0"/>
              <a:t>12-10-2026</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7581BC1-9D74-4B93-8B63-0DCA8666DB0C}" type="slidenum">
              <a:rPr lang="en-IN" smtClean="0"/>
              <a:t>‹#›</a:t>
            </a:fld>
            <a:endParaRPr lang="en-IN"/>
          </a:p>
        </p:txBody>
      </p:sp>
    </p:spTree>
    <p:extLst>
      <p:ext uri="{BB962C8B-B14F-4D97-AF65-F5344CB8AC3E}">
        <p14:creationId xmlns:p14="http://schemas.microsoft.com/office/powerpoint/2010/main" val="1791750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581BC1-9D74-4B93-8B63-0DCA8666DB0C}" type="slidenum">
              <a:rPr lang="en-IN" smtClean="0"/>
              <a:t>4</a:t>
            </a:fld>
            <a:endParaRPr lang="en-IN"/>
          </a:p>
        </p:txBody>
      </p:sp>
    </p:spTree>
    <p:extLst>
      <p:ext uri="{BB962C8B-B14F-4D97-AF65-F5344CB8AC3E}">
        <p14:creationId xmlns:p14="http://schemas.microsoft.com/office/powerpoint/2010/main" val="2606587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2338-8952-269E-E7F6-C254C55A69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87AC09-94D9-BDFE-6652-F4EBFB6771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7A55D4-5EE5-9BFC-DF49-C0C4D8A0C500}"/>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D41A2C0F-234D-9254-8029-5CC78CE5AA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386676-E218-39A3-C9FE-3C7B4F25685F}"/>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848288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8000-95AF-E296-978C-0D65D0AB91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1373BB-55F3-80A9-B16D-8CDD0F8B9F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A575C1-7C5E-8D4A-B016-F654239CD8D7}"/>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749E9127-E354-80D3-9C85-365008F47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3A91B7-DFD0-1172-4A56-45F207B9A91C}"/>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75013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985A-5E90-7B21-DA56-7AF0BACCB3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F788CD-E897-C13E-BF3D-AC9CD4C712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1385A8-E7EC-1DE0-40C3-1BA3843ACF92}"/>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6B91D725-8CA4-2B3A-2959-FF44CB5944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532FE2-ED8B-F176-51B2-9964ACE7A8D3}"/>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2492762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98E7-AC18-7D34-0A5C-A19204A86A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F3EC9E-7396-A1FB-ED61-4F75D62D2A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7AF454-60E1-1892-1DC6-183BBB5117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B74E2E-271A-F63D-1E46-9CA740A3FA07}"/>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6" name="Footer Placeholder 5">
            <a:extLst>
              <a:ext uri="{FF2B5EF4-FFF2-40B4-BE49-F238E27FC236}">
                <a16:creationId xmlns:a16="http://schemas.microsoft.com/office/drawing/2014/main" id="{C9CC79AE-65B7-940B-8A6F-1048EAEF8A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8C1420-C245-560B-CC6C-4500C5BFB423}"/>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1186814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8F090-ED1C-396F-F86A-3237BF23E8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84FBCF-F4B5-45D3-2ACE-6F2E7B3AC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A667D4-2269-9C25-367F-59D5AA310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F67E65-C0B2-1558-5338-0C33971DF2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2A86EF-7DC0-1937-2CFA-285E6398A8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1D917E-FD81-FB04-C5DE-8120FE916CB6}"/>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8" name="Footer Placeholder 7">
            <a:extLst>
              <a:ext uri="{FF2B5EF4-FFF2-40B4-BE49-F238E27FC236}">
                <a16:creationId xmlns:a16="http://schemas.microsoft.com/office/drawing/2014/main" id="{3606BA8C-96B1-64AE-FB01-A3D23A3933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6F6342-BCE7-6429-4E1F-4B6029DD14C3}"/>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15918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5391-F177-10C4-C5D8-6D10797855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8BB3A0-E45F-AE89-AAAA-DAE638BFF829}"/>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4" name="Footer Placeholder 3">
            <a:extLst>
              <a:ext uri="{FF2B5EF4-FFF2-40B4-BE49-F238E27FC236}">
                <a16:creationId xmlns:a16="http://schemas.microsoft.com/office/drawing/2014/main" id="{C0CDF7E6-4F8E-E52D-1105-0C42C19464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E9ACFF-164F-90CA-0C1D-8CDEBF1AFC9F}"/>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436161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06517-CCF2-42E0-5D5F-3AFBFB674244}"/>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3" name="Footer Placeholder 2">
            <a:extLst>
              <a:ext uri="{FF2B5EF4-FFF2-40B4-BE49-F238E27FC236}">
                <a16:creationId xmlns:a16="http://schemas.microsoft.com/office/drawing/2014/main" id="{C7CAA0E0-1A67-CA37-7E61-4B3F5F32C9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0F05B4-4E5B-DBA0-C77C-3DFBB28CE012}"/>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61993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594BE-8CCC-34C6-B641-BE80BE23D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893A73-F7A2-FB23-1FF3-91DFD9FFE7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A970CF-E369-0A19-1E8B-38E333999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37C4F-82B8-3C3E-780D-1A47965DA81D}"/>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6" name="Footer Placeholder 5">
            <a:extLst>
              <a:ext uri="{FF2B5EF4-FFF2-40B4-BE49-F238E27FC236}">
                <a16:creationId xmlns:a16="http://schemas.microsoft.com/office/drawing/2014/main" id="{546E39F2-F31B-65C4-0FF8-8C602C2204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2D1D10-70AD-0645-1070-85DA365D20ED}"/>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3168067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7348-29D1-4A6C-DFDE-DBC0F5289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9F4D576-FBDF-48C9-0AC4-0D02A9AF97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101160-20B3-09DB-8446-BC92A6434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294566-D492-EAE4-1BD3-8D98025BED46}"/>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6" name="Footer Placeholder 5">
            <a:extLst>
              <a:ext uri="{FF2B5EF4-FFF2-40B4-BE49-F238E27FC236}">
                <a16:creationId xmlns:a16="http://schemas.microsoft.com/office/drawing/2014/main" id="{0693C626-C3C2-5A97-78D9-3CD8222104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604FF7-47B3-2E23-CC6A-8E8E4C9A3972}"/>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182267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C94F2-E91F-01B5-03A4-ED6BA62AAD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04A955-BDF6-F20D-C94C-DB08982F04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AB5A6-E59D-46D7-DC26-E225420C1FC3}"/>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B3934F7F-5691-2BA2-2C0B-C9462B272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5C0557-E7BD-5BB4-0157-24A948CB7FCD}"/>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2201945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3251D3-0121-6A28-02F9-32CA210EFC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62CEE8-D705-8AC1-6C00-DBA7946C3C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DC42EE-BA50-4663-FE95-C6EA3B788BC5}"/>
              </a:ext>
            </a:extLst>
          </p:cNvPr>
          <p:cNvSpPr>
            <a:spLocks noGrp="1"/>
          </p:cNvSpPr>
          <p:nvPr>
            <p:ph type="dt" sz="half" idx="10"/>
          </p:nvPr>
        </p:nvSpPr>
        <p:spPr/>
        <p:txBody>
          <a:body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46D112FD-5428-CF39-7B6C-7F8A83A02D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B60F48-F50D-D1A6-F646-35540C2F5193}"/>
              </a:ext>
            </a:extLst>
          </p:cNvPr>
          <p:cNvSpPr>
            <a:spLocks noGrp="1"/>
          </p:cNvSpPr>
          <p:nvPr>
            <p:ph type="sldNum" sz="quarter" idx="12"/>
          </p:nvPr>
        </p:nvSpPr>
        <p:spPr/>
        <p:txBody>
          <a:bodyPr/>
          <a:lstStyle/>
          <a:p>
            <a:fld id="{266B5277-B096-4967-B948-0423FD80DFD4}" type="slidenum">
              <a:rPr lang="en-IN" smtClean="0"/>
              <a:t>‹#›</a:t>
            </a:fld>
            <a:endParaRPr lang="en-IN"/>
          </a:p>
        </p:txBody>
      </p:sp>
    </p:spTree>
    <p:extLst>
      <p:ext uri="{BB962C8B-B14F-4D97-AF65-F5344CB8AC3E}">
        <p14:creationId xmlns:p14="http://schemas.microsoft.com/office/powerpoint/2010/main" val="3526019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0A38AD-2C6D-2A13-4B4B-23403A5DB4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C868A8-FDA7-D5AC-FCE4-DD8CF1C03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DD6E86-07A3-28BC-C7D0-5BB23386CA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FF026E-D685-4C4E-90D4-AAF4FBF91AD7}" type="datetimeFigureOut">
              <a:rPr lang="en-IN" smtClean="0"/>
              <a:t>12-10-2026</a:t>
            </a:fld>
            <a:endParaRPr lang="en-IN"/>
          </a:p>
        </p:txBody>
      </p:sp>
      <p:sp>
        <p:nvSpPr>
          <p:cNvPr id="5" name="Footer Placeholder 4">
            <a:extLst>
              <a:ext uri="{FF2B5EF4-FFF2-40B4-BE49-F238E27FC236}">
                <a16:creationId xmlns:a16="http://schemas.microsoft.com/office/drawing/2014/main" id="{8B0C5CD4-DF64-E672-5616-019ADC9024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62BCBA-CABA-F658-0B8C-9F6472F161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6B5277-B096-4967-B948-0423FD80DFD4}" type="slidenum">
              <a:rPr lang="en-IN" smtClean="0"/>
              <a:t>‹#›</a:t>
            </a:fld>
            <a:endParaRPr lang="en-IN"/>
          </a:p>
        </p:txBody>
      </p:sp>
    </p:spTree>
    <p:extLst>
      <p:ext uri="{BB962C8B-B14F-4D97-AF65-F5344CB8AC3E}">
        <p14:creationId xmlns:p14="http://schemas.microsoft.com/office/powerpoint/2010/main" val="32553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1836" y="4698185"/>
            <a:ext cx="3398293" cy="1220847"/>
          </a:xfrm>
          <a:prstGeom prst="rect">
            <a:avLst/>
          </a:prstGeom>
        </p:spPr>
        <p:txBody>
          <a:bodyPr wrap="square">
            <a:spAutoFit/>
          </a:bodyPr>
          <a:lstStyle/>
          <a:p>
            <a:pPr algn="just">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Submitted By:</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a:p>
            <a:pPr>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Name:- Dhritiman Sen</a:t>
            </a:r>
          </a:p>
          <a:p>
            <a:pPr>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Roll No.:- 23ESKCX029</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4572334" y="1374826"/>
            <a:ext cx="3224472" cy="954107"/>
          </a:xfrm>
          <a:prstGeom prst="rect">
            <a:avLst/>
          </a:prstGeom>
        </p:spPr>
        <p:txBody>
          <a:bodyPr wrap="none">
            <a:spAutoFit/>
          </a:bodyPr>
          <a:lstStyle/>
          <a:p>
            <a:pPr algn="ctr"/>
            <a:r>
              <a:rPr lang="en-US" sz="2800" b="1" dirty="0">
                <a:solidFill>
                  <a:srgbClr val="0F0F0F"/>
                </a:solidFill>
                <a:latin typeface="Times New Roman" panose="02020603050405020304" pitchFamily="18" charset="0"/>
                <a:cs typeface="Times New Roman" panose="02020603050405020304" pitchFamily="18" charset="0"/>
              </a:rPr>
              <a:t>Industrial Training </a:t>
            </a:r>
          </a:p>
          <a:p>
            <a:pPr algn="ctr"/>
            <a:r>
              <a:rPr lang="en-US" sz="2800" b="1" dirty="0">
                <a:solidFill>
                  <a:srgbClr val="0F0F0F"/>
                </a:solidFill>
                <a:latin typeface="Times New Roman" panose="02020603050405020304" pitchFamily="18" charset="0"/>
                <a:cs typeface="Times New Roman" panose="02020603050405020304" pitchFamily="18" charset="0"/>
              </a:rPr>
              <a:t>Presentation</a:t>
            </a:r>
            <a:endParaRPr lang="en-US" sz="2800" b="1" dirty="0">
              <a:latin typeface="Times New Roman" panose="02020603050405020304" pitchFamily="18" charset="0"/>
              <a:cs typeface="Times New Roman" panose="02020603050405020304" pitchFamily="18" charset="0"/>
            </a:endParaRPr>
          </a:p>
        </p:txBody>
      </p:sp>
      <p:pic>
        <p:nvPicPr>
          <p:cNvPr id="1026" name="Picture 2" descr="https://www.skit.ac.in/images/headers/skit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125277" y="314579"/>
            <a:ext cx="10379786" cy="677108"/>
          </a:xfrm>
          <a:prstGeom prst="rect">
            <a:avLst/>
          </a:prstGeom>
        </p:spPr>
        <p:txBody>
          <a:bodyPr wrap="square">
            <a:spAutoFit/>
          </a:bodyPr>
          <a:lstStyle/>
          <a:p>
            <a:pPr algn="ctr"/>
            <a:r>
              <a:rPr lang="en-US" sz="2000" b="1" dirty="0">
                <a:solidFill>
                  <a:srgbClr val="C00000"/>
                </a:solidFill>
                <a:latin typeface="Times New Roman" panose="02020603050405020304" pitchFamily="18" charset="0"/>
                <a:cs typeface="Times New Roman" panose="02020603050405020304" pitchFamily="18" charset="0"/>
              </a:rPr>
              <a:t>Swami Keshvanand Institute of Technology, Management &amp; </a:t>
            </a:r>
            <a:r>
              <a:rPr lang="en-US" sz="2000" b="1" dirty="0" err="1">
                <a:solidFill>
                  <a:srgbClr val="C00000"/>
                </a:solidFill>
                <a:latin typeface="Times New Roman" panose="02020603050405020304" pitchFamily="18" charset="0"/>
                <a:cs typeface="Times New Roman" panose="02020603050405020304" pitchFamily="18" charset="0"/>
              </a:rPr>
              <a:t>Gramothan</a:t>
            </a:r>
            <a:r>
              <a:rPr lang="en-US" sz="2000" b="1" dirty="0">
                <a:solidFill>
                  <a:srgbClr val="C00000"/>
                </a:solidFill>
                <a:latin typeface="Times New Roman" panose="02020603050405020304" pitchFamily="18" charset="0"/>
                <a:cs typeface="Times New Roman" panose="02020603050405020304" pitchFamily="18" charset="0"/>
              </a:rPr>
              <a:t>, Jaipur</a:t>
            </a:r>
          </a:p>
          <a:p>
            <a:pPr algn="ctr"/>
            <a:r>
              <a:rPr lang="en-US" b="1" dirty="0">
                <a:solidFill>
                  <a:srgbClr val="C00000"/>
                </a:solidFill>
                <a:latin typeface="Times New Roman" panose="02020603050405020304" pitchFamily="18" charset="0"/>
                <a:cs typeface="Times New Roman" panose="02020603050405020304" pitchFamily="18" charset="0"/>
              </a:rPr>
              <a:t>(An Autonomous Institute Affiliated to Rajasthan Technical University, Kota)</a:t>
            </a:r>
          </a:p>
        </p:txBody>
      </p:sp>
      <p:sp>
        <p:nvSpPr>
          <p:cNvPr id="9" name="Rectangle 8"/>
          <p:cNvSpPr/>
          <p:nvPr/>
        </p:nvSpPr>
        <p:spPr>
          <a:xfrm>
            <a:off x="353473" y="4698185"/>
            <a:ext cx="5167433" cy="1220847"/>
          </a:xfrm>
          <a:prstGeom prst="rect">
            <a:avLst/>
          </a:prstGeom>
        </p:spPr>
        <p:txBody>
          <a:bodyPr wrap="square">
            <a:spAutoFit/>
          </a:bodyPr>
          <a:lstStyle/>
          <a:p>
            <a:pPr algn="just">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Submitted To:</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a:p>
            <a:pPr>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Name:- Mr. Shivank Lavania</a:t>
            </a:r>
          </a:p>
          <a:p>
            <a:pPr>
              <a:spcAft>
                <a:spcPts val="800"/>
              </a:spcAft>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Assistant Professor</a:t>
            </a:r>
          </a:p>
        </p:txBody>
      </p:sp>
      <p:sp>
        <p:nvSpPr>
          <p:cNvPr id="7" name="Rectangle 6"/>
          <p:cNvSpPr/>
          <p:nvPr/>
        </p:nvSpPr>
        <p:spPr>
          <a:xfrm>
            <a:off x="3106353" y="2583530"/>
            <a:ext cx="5979294" cy="1384995"/>
          </a:xfrm>
          <a:prstGeom prst="rect">
            <a:avLst/>
          </a:prstGeom>
        </p:spPr>
        <p:txBody>
          <a:bodyPr wrap="square">
            <a:spAutoFit/>
          </a:bodyPr>
          <a:lstStyle/>
          <a:p>
            <a:pPr algn="ctr"/>
            <a:r>
              <a:rPr sz="2800" b="1" dirty="0">
                <a:latin typeface="Bookman Old Style" panose="02050604050505020204" pitchFamily="18" charset="0"/>
              </a:rPr>
              <a:t>TOPIC: </a:t>
            </a:r>
            <a:r>
              <a:rPr lang="en-IN" sz="2800" b="1" dirty="0" err="1">
                <a:latin typeface="Bookman Old Style" panose="02050604050505020204" pitchFamily="18" charset="0"/>
              </a:rPr>
              <a:t>HelioPulse</a:t>
            </a:r>
            <a:r>
              <a:rPr lang="en-IN" sz="2800" b="1" dirty="0">
                <a:latin typeface="Bookman Old Style" panose="02050604050505020204" pitchFamily="18" charset="0"/>
              </a:rPr>
              <a:t> OS:</a:t>
            </a:r>
          </a:p>
          <a:p>
            <a:pPr algn="ctr"/>
            <a:r>
              <a:rPr sz="2800" b="1" dirty="0">
                <a:latin typeface="Bookman Old Style" panose="02050604050505020204" pitchFamily="18" charset="0"/>
              </a:rPr>
              <a:t>Solar Panel Underperformance &amp; Revenue Loss Detector</a:t>
            </a:r>
            <a:endParaRPr lang="en-US" sz="2800" b="1" u="sng" dirty="0">
              <a:latin typeface="Bookman Old Style" panose="02050604050505020204" pitchFamily="18" charset="0"/>
              <a:cs typeface="Times New Roman" panose="02020603050405020304" pitchFamily="18" charset="0"/>
            </a:endParaRPr>
          </a:p>
        </p:txBody>
      </p:sp>
      <p:pic>
        <p:nvPicPr>
          <p:cNvPr id="1028" name="Picture 4" descr="https://www.skit.ac.in/images/headers/swamiji_phot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0907" y="174677"/>
            <a:ext cx="739222"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555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b="1" spc="0" dirty="0">
              <a:effectLst/>
              <a:latin typeface="Times New Roman" panose="02020603050405020304" pitchFamily="18" charset="0"/>
              <a:ea typeface="Symbol" panose="05050102010706020507" pitchFamily="18" charset="2"/>
              <a:cs typeface="Symbol" panose="05050102010706020507" pitchFamily="18" charset="2"/>
            </a:endParaRPr>
          </a:p>
          <a:p>
            <a:pPr algn="ctr">
              <a:defRPr/>
            </a:pPr>
            <a:r>
              <a:rPr lang="en-IN" sz="3200" b="1" dirty="0">
                <a:latin typeface="Times New Roman" panose="02020603050405020304" pitchFamily="18" charset="0"/>
                <a:cs typeface="Times New Roman" panose="02020603050405020304" pitchFamily="18" charset="0"/>
              </a:rPr>
              <a:t>Index</a:t>
            </a:r>
            <a:endParaRPr lang="en-IN" sz="3200" b="1" spc="0" dirty="0">
              <a:effectLst/>
              <a:latin typeface="Times New Roman" panose="02020603050405020304" pitchFamily="18" charset="0"/>
              <a:ea typeface="Symbol" panose="05050102010706020507" pitchFamily="18" charset="2"/>
              <a:cs typeface="Symbol" panose="05050102010706020507" pitchFamily="18" charset="2"/>
            </a:endParaRPr>
          </a:p>
          <a:p>
            <a:pPr algn="ctr" eaLnBrk="1" fontAlgn="auto" hangingPunct="1">
              <a:spcBef>
                <a:spcPts val="0"/>
              </a:spcBef>
              <a:spcAft>
                <a:spcPts val="0"/>
              </a:spcAft>
              <a:defRPr/>
            </a:pPr>
            <a:endParaRPr lang="en-US" altLang="en-US" sz="2800" b="1" dirty="0">
              <a:solidFill>
                <a:schemeClr val="bg1"/>
              </a:solidFill>
              <a:latin typeface="Times New Roman" pitchFamily="18" charset="0"/>
              <a:cs typeface="Times New Roman" pitchFamily="18" charset="0"/>
            </a:endParaRPr>
          </a:p>
        </p:txBody>
      </p:sp>
      <p:sp>
        <p:nvSpPr>
          <p:cNvPr id="2" name="Rectangle 1"/>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408573" y="979040"/>
            <a:ext cx="6924270" cy="6093976"/>
          </a:xfrm>
          <a:prstGeom prst="rect">
            <a:avLst/>
          </a:prstGeom>
        </p:spPr>
        <p:txBody>
          <a:bodyPr wrap="square">
            <a:spAutoFit/>
          </a:bodyPr>
          <a:lstStyle/>
          <a:p>
            <a:endParaRPr lang="en-US" b="1" dirty="0">
              <a:solidFill>
                <a:srgbClr val="0F0F0F"/>
              </a:solidFill>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2800" b="1" dirty="0">
                <a:solidFill>
                  <a:srgbClr val="0F0F0F"/>
                </a:solidFill>
                <a:latin typeface="Times New Roman" panose="02020603050405020304" pitchFamily="18" charset="0"/>
                <a:cs typeface="Times New Roman" panose="02020603050405020304" pitchFamily="18" charset="0"/>
              </a:rPr>
              <a:t>Company Introduction</a:t>
            </a:r>
          </a:p>
          <a:p>
            <a:pPr marL="342900" indent="-342900">
              <a:lnSpc>
                <a:spcPct val="150000"/>
              </a:lnSpc>
              <a:buFont typeface="+mj-lt"/>
              <a:buAutoNum type="arabicPeriod"/>
            </a:pPr>
            <a:r>
              <a:rPr lang="en-US" sz="2800" b="1" dirty="0">
                <a:solidFill>
                  <a:srgbClr val="0F0F0F"/>
                </a:solidFill>
                <a:latin typeface="Times New Roman" panose="02020603050405020304" pitchFamily="18" charset="0"/>
                <a:cs typeface="Times New Roman" panose="02020603050405020304" pitchFamily="18" charset="0"/>
              </a:rPr>
              <a:t>Certificate</a:t>
            </a:r>
          </a:p>
          <a:p>
            <a:pPr marL="342900" indent="-342900">
              <a:lnSpc>
                <a:spcPct val="150000"/>
              </a:lnSpc>
              <a:buFont typeface="+mj-lt"/>
              <a:buAutoNum type="arabicPeriod"/>
            </a:pPr>
            <a:r>
              <a:rPr lang="en-US" sz="2800" b="1" dirty="0">
                <a:solidFill>
                  <a:srgbClr val="0F0F0F"/>
                </a:solidFill>
                <a:latin typeface="Times New Roman" panose="02020603050405020304" pitchFamily="18" charset="0"/>
                <a:cs typeface="Times New Roman" panose="02020603050405020304" pitchFamily="18" charset="0"/>
              </a:rPr>
              <a:t>Technology Used</a:t>
            </a:r>
          </a:p>
          <a:p>
            <a:pPr marL="342900" indent="-3429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Goal of Training</a:t>
            </a:r>
          </a:p>
          <a:p>
            <a:pPr marL="342900" indent="-3429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Project Overview</a:t>
            </a:r>
          </a:p>
          <a:p>
            <a:pPr marL="342900" indent="-3429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Working Project</a:t>
            </a:r>
          </a:p>
          <a:p>
            <a:pPr marL="342900" indent="-3429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Future Scope</a:t>
            </a:r>
          </a:p>
          <a:p>
            <a:pPr marL="342900" indent="-3429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Q&amp;A</a:t>
            </a:r>
          </a:p>
          <a:p>
            <a:endParaRPr lang="en-US" b="1" dirty="0">
              <a:latin typeface="Times New Roman" panose="02020603050405020304" pitchFamily="18" charset="0"/>
              <a:cs typeface="Times New Roman" panose="02020603050405020304" pitchFamily="18" charset="0"/>
            </a:endParaRPr>
          </a:p>
          <a:p>
            <a:pPr marL="342900" indent="-342900">
              <a:buAutoNum type="arabicPeriod"/>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53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t>Company / Domain Introduction</a:t>
            </a:r>
          </a:p>
        </p:txBody>
      </p:sp>
      <p:sp>
        <p:nvSpPr>
          <p:cNvPr id="2" name="Rectangle 1"/>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3" name="Picture 2" descr="https://www.skit.ac.in/images/headers/skit_logo.png">
            <a:extLst>
              <a:ext uri="{FF2B5EF4-FFF2-40B4-BE49-F238E27FC236}">
                <a16:creationId xmlns:a16="http://schemas.microsoft.com/office/drawing/2014/main" id="{4D6B58DE-D5B3-A843-94E5-84337CC85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36D73A-E033-A640-92BC-010416C97E05}"/>
              </a:ext>
            </a:extLst>
          </p:cNvPr>
          <p:cNvSpPr txBox="1"/>
          <p:nvPr/>
        </p:nvSpPr>
        <p:spPr>
          <a:xfrm>
            <a:off x="2260979" y="1247018"/>
            <a:ext cx="9417269" cy="4708981"/>
          </a:xfrm>
          <a:prstGeom prst="rect">
            <a:avLst/>
          </a:prstGeom>
          <a:noFill/>
        </p:spPr>
        <p:txBody>
          <a:bodyPr wrap="square" rtlCol="0">
            <a:spAutoFit/>
          </a:bodyPr>
          <a:lstStyle/>
          <a:p>
            <a:pPr>
              <a:spcAft>
                <a:spcPts val="1200"/>
              </a:spcAft>
            </a:pPr>
            <a:r>
              <a:rPr lang="en-IN" sz="2000" b="1" dirty="0" err="1"/>
              <a:t>Cynbit</a:t>
            </a:r>
            <a:r>
              <a:rPr lang="en-IN" sz="2000" b="1" dirty="0"/>
              <a:t> Technologies </a:t>
            </a:r>
            <a:r>
              <a:rPr lang="en-IN" sz="2000" dirty="0"/>
              <a:t>is an </a:t>
            </a:r>
            <a:r>
              <a:rPr lang="en-IN" sz="2000" b="1" dirty="0"/>
              <a:t>AI automation and software solutions </a:t>
            </a:r>
            <a:r>
              <a:rPr lang="en-IN" sz="2000" dirty="0"/>
              <a:t>company headquartered in Jaipur, Rajasthan, India. Officially launched in 2024 after years of groundwork that began in 2021, </a:t>
            </a:r>
            <a:r>
              <a:rPr lang="en-IN" sz="2000" dirty="0" err="1"/>
              <a:t>Cynbit</a:t>
            </a:r>
            <a:r>
              <a:rPr lang="en-IN" sz="2000" dirty="0"/>
              <a:t> specializes in AI automation and autonomous agents, custom software development, web and mobile applications, cloud solutions (AWS and Azure), and technical SEO and digital marketing. The company is located at 32/115 Pratap Nagar, Jaipur, Rajasthan – 302033, and serves clients across industries from this corporate office, with a global outlook. Alongside its services, </a:t>
            </a:r>
            <a:r>
              <a:rPr lang="en-IN" sz="2000" dirty="0" err="1"/>
              <a:t>Cynbit</a:t>
            </a:r>
            <a:r>
              <a:rPr lang="en-IN" sz="2000" dirty="0"/>
              <a:t> builds </a:t>
            </a:r>
            <a:r>
              <a:rPr lang="en-IN" sz="2000" b="1" dirty="0"/>
              <a:t>proprietary SaaS products </a:t>
            </a:r>
            <a:r>
              <a:rPr lang="en-IN" sz="2000" dirty="0"/>
              <a:t>such as </a:t>
            </a:r>
            <a:r>
              <a:rPr lang="en-IN" sz="2000" b="1" dirty="0" err="1"/>
              <a:t>Cynbit</a:t>
            </a:r>
            <a:r>
              <a:rPr lang="en-IN" sz="2000" b="1" dirty="0"/>
              <a:t> Studio </a:t>
            </a:r>
            <a:r>
              <a:rPr lang="en-IN" sz="2000" dirty="0"/>
              <a:t>(career intelligence), </a:t>
            </a:r>
            <a:r>
              <a:rPr lang="en-IN" sz="2000" b="1" dirty="0" err="1"/>
              <a:t>Revio</a:t>
            </a:r>
            <a:r>
              <a:rPr lang="en-IN" sz="2000" b="1" dirty="0"/>
              <a:t> </a:t>
            </a:r>
            <a:r>
              <a:rPr lang="en-IN" sz="2000" dirty="0"/>
              <a:t>(AI review assistant) </a:t>
            </a:r>
            <a:r>
              <a:rPr lang="en-IN" sz="2000" b="1" dirty="0"/>
              <a:t>and </a:t>
            </a:r>
            <a:r>
              <a:rPr lang="en-IN" sz="2000" b="1" dirty="0" err="1"/>
              <a:t>TenantEase</a:t>
            </a:r>
            <a:r>
              <a:rPr lang="en-IN" sz="2000" b="1" dirty="0"/>
              <a:t> </a:t>
            </a:r>
            <a:r>
              <a:rPr lang="en-IN" sz="2000" dirty="0"/>
              <a:t>(property ecosystem), and runs </a:t>
            </a:r>
            <a:r>
              <a:rPr lang="en-IN" sz="2000" b="1" dirty="0" err="1"/>
              <a:t>BitElevate</a:t>
            </a:r>
            <a:r>
              <a:rPr lang="en-IN" sz="2000" b="1" dirty="0"/>
              <a:t>-</a:t>
            </a:r>
            <a:r>
              <a:rPr lang="en-IN" sz="2000" dirty="0"/>
              <a:t> a training program that links academic learning to industry skills through mentorship, real-world projects and placement support. Through its partnership with </a:t>
            </a:r>
            <a:r>
              <a:rPr lang="en-IN" sz="2000" b="1" dirty="0"/>
              <a:t>Manav Seva Trust</a:t>
            </a:r>
            <a:r>
              <a:rPr lang="en-IN" sz="2000" dirty="0"/>
              <a:t>, it also provides computer and </a:t>
            </a:r>
            <a:r>
              <a:rPr lang="en-IN" sz="2000" b="1" dirty="0"/>
              <a:t>IT teaching in rural areas and government schools</a:t>
            </a:r>
            <a:r>
              <a:rPr lang="en-IN" sz="2000" dirty="0"/>
              <a:t>. The company emphasizes startup-like speed with enterprise-grade rigor, AI-first thinking and end-to-end ownership from design to deployment, giving interns and trainees a strong platform for learning and professional growth.</a:t>
            </a:r>
            <a:endParaRPr sz="2000" dirty="0"/>
          </a:p>
        </p:txBody>
      </p:sp>
    </p:spTree>
    <p:extLst>
      <p:ext uri="{BB962C8B-B14F-4D97-AF65-F5344CB8AC3E}">
        <p14:creationId xmlns:p14="http://schemas.microsoft.com/office/powerpoint/2010/main" val="3602055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AC2C-F627-F9E5-6CBF-49DD8705D01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DB7225-7CDF-6FC2-4952-9D1749145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659" y="1052724"/>
            <a:ext cx="6643617" cy="4752551"/>
          </a:xfrm>
          <a:prstGeom prst="rect">
            <a:avLst/>
          </a:prstGeom>
        </p:spPr>
      </p:pic>
      <p:sp>
        <p:nvSpPr>
          <p:cNvPr id="6" name="Rectangle 5">
            <a:extLst>
              <a:ext uri="{FF2B5EF4-FFF2-40B4-BE49-F238E27FC236}">
                <a16:creationId xmlns:a16="http://schemas.microsoft.com/office/drawing/2014/main" id="{696A2F96-DB1C-710C-CB66-14F0CA3DA596}"/>
              </a:ext>
            </a:extLst>
          </p:cNvPr>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dirty="0"/>
              <a:t>C</a:t>
            </a:r>
            <a:r>
              <a:rPr lang="en-IN" dirty="0" err="1"/>
              <a:t>ertificate</a:t>
            </a:r>
            <a:r>
              <a:rPr lang="en-IN" dirty="0"/>
              <a:t> </a:t>
            </a:r>
            <a:endParaRPr dirty="0"/>
          </a:p>
        </p:txBody>
      </p:sp>
      <p:sp>
        <p:nvSpPr>
          <p:cNvPr id="8" name="Rectangle 7">
            <a:extLst>
              <a:ext uri="{FF2B5EF4-FFF2-40B4-BE49-F238E27FC236}">
                <a16:creationId xmlns:a16="http://schemas.microsoft.com/office/drawing/2014/main" id="{EDF0C4AA-B21E-55FB-167A-10BAE7849EC1}"/>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10" name="Picture 9" descr="https://www.skit.ac.in/images/headers/skit_logo.png">
            <a:extLst>
              <a:ext uri="{FF2B5EF4-FFF2-40B4-BE49-F238E27FC236}">
                <a16:creationId xmlns:a16="http://schemas.microsoft.com/office/drawing/2014/main" id="{9CCEB43C-E7F8-7E0D-95D8-D673EB3B0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38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B49B3-C620-60B7-7A55-68C2748EB0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C58A8D1-50D1-A249-164F-D6FF66E1201C}"/>
              </a:ext>
            </a:extLst>
          </p:cNvPr>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b="1" spc="0" dirty="0">
              <a:effectLst/>
              <a:latin typeface="Times New Roman" panose="02020603050405020304" pitchFamily="18" charset="0"/>
              <a:ea typeface="Symbol" panose="05050102010706020507" pitchFamily="18" charset="2"/>
              <a:cs typeface="Symbol" panose="05050102010706020507" pitchFamily="18" charset="2"/>
            </a:endParaRPr>
          </a:p>
          <a:p>
            <a:pPr>
              <a:defRPr/>
            </a:pPr>
            <a:r>
              <a:rPr lang="en-IN" sz="3200" dirty="0">
                <a:latin typeface="Times New Roman" panose="02020603050405020304" pitchFamily="18" charset="0"/>
                <a:cs typeface="Times New Roman" panose="02020603050405020304" pitchFamily="18" charset="0"/>
              </a:rPr>
              <a:t>Technology Stack Used</a:t>
            </a:r>
            <a:endParaRPr lang="en-IN" sz="3200" b="1" spc="0" dirty="0">
              <a:effectLst/>
              <a:latin typeface="Times New Roman" panose="02020603050405020304" pitchFamily="18" charset="0"/>
              <a:ea typeface="Symbol" panose="05050102010706020507" pitchFamily="18" charset="2"/>
              <a:cs typeface="Times New Roman" panose="02020603050405020304" pitchFamily="18" charset="0"/>
            </a:endParaRPr>
          </a:p>
          <a:p>
            <a:pPr algn="ctr" eaLnBrk="1" fontAlgn="auto" hangingPunct="1">
              <a:spcBef>
                <a:spcPts val="0"/>
              </a:spcBef>
              <a:spcAft>
                <a:spcPts val="0"/>
              </a:spcAft>
              <a:defRPr/>
            </a:pPr>
            <a:endParaRPr lang="en-US" altLang="en-US" sz="2800"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84A2519D-2211-7367-0DBF-5BF0C8F89E85}"/>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a:extLst>
              <a:ext uri="{FF2B5EF4-FFF2-40B4-BE49-F238E27FC236}">
                <a16:creationId xmlns:a16="http://schemas.microsoft.com/office/drawing/2014/main" id="{D94F37D1-B53D-27DA-F96D-EA9F9F1C0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43" y="124980"/>
            <a:ext cx="1133475" cy="12001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tech_stack_grid.png"/>
          <p:cNvPicPr>
            <a:picLocks noChangeAspect="1"/>
          </p:cNvPicPr>
          <p:nvPr/>
        </p:nvPicPr>
        <p:blipFill>
          <a:blip r:embed="rId3"/>
          <a:stretch>
            <a:fillRect/>
          </a:stretch>
        </p:blipFill>
        <p:spPr>
          <a:xfrm>
            <a:off x="1097280" y="1371600"/>
            <a:ext cx="9966960" cy="4572000"/>
          </a:xfrm>
          <a:prstGeom prst="rect">
            <a:avLst/>
          </a:prstGeom>
        </p:spPr>
      </p:pic>
    </p:spTree>
    <p:extLst>
      <p:ext uri="{BB962C8B-B14F-4D97-AF65-F5344CB8AC3E}">
        <p14:creationId xmlns:p14="http://schemas.microsoft.com/office/powerpoint/2010/main" val="217636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FDFB7-CEDE-6E1B-BADE-7121C54431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6D51D6-6A2A-4E6E-9B85-E773D28CB6E6}"/>
              </a:ext>
            </a:extLst>
          </p:cNvPr>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b="1" spc="0" dirty="0">
              <a:effectLst/>
              <a:latin typeface="Times New Roman" panose="02020603050405020304" pitchFamily="18" charset="0"/>
              <a:ea typeface="Symbol" panose="05050102010706020507" pitchFamily="18" charset="2"/>
              <a:cs typeface="Symbol" panose="05050102010706020507" pitchFamily="18" charset="2"/>
            </a:endParaRPr>
          </a:p>
          <a:p>
            <a:pPr algn="ctr">
              <a:defRPr/>
            </a:pPr>
            <a:r>
              <a:rPr lang="en-IN" sz="3200" b="1" spc="0" dirty="0">
                <a:effectLst/>
                <a:latin typeface="Times New Roman" panose="02020603050405020304" pitchFamily="18" charset="0"/>
                <a:ea typeface="Symbol" panose="05050102010706020507" pitchFamily="18" charset="2"/>
                <a:cs typeface="Times New Roman" panose="02020603050405020304" pitchFamily="18" charset="0"/>
              </a:rPr>
              <a:t>Goal Of Training</a:t>
            </a:r>
            <a:endParaRPr lang="en-IN" sz="3200" b="1" spc="0" dirty="0">
              <a:effectLst/>
              <a:latin typeface="Times New Roman" panose="02020603050405020304" pitchFamily="18" charset="0"/>
              <a:ea typeface="Symbol" panose="05050102010706020507" pitchFamily="18" charset="2"/>
              <a:cs typeface="Symbol" panose="05050102010706020507" pitchFamily="18" charset="2"/>
            </a:endParaRPr>
          </a:p>
          <a:p>
            <a:pPr algn="ctr" eaLnBrk="1" fontAlgn="auto" hangingPunct="1">
              <a:spcBef>
                <a:spcPts val="0"/>
              </a:spcBef>
              <a:spcAft>
                <a:spcPts val="0"/>
              </a:spcAft>
              <a:defRPr/>
            </a:pPr>
            <a:endParaRPr lang="en-US" altLang="en-US" sz="2800"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AB8EB3F1-3C4E-7528-5103-A84936DCAC21}"/>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a:extLst>
              <a:ext uri="{FF2B5EF4-FFF2-40B4-BE49-F238E27FC236}">
                <a16:creationId xmlns:a16="http://schemas.microsoft.com/office/drawing/2014/main" id="{E278EB15-C623-9050-7C86-2163130AE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651" y="112764"/>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9300B82-6659-1CC4-2098-D8975428F532}"/>
              </a:ext>
            </a:extLst>
          </p:cNvPr>
          <p:cNvSpPr txBox="1"/>
          <p:nvPr/>
        </p:nvSpPr>
        <p:spPr>
          <a:xfrm>
            <a:off x="2260979" y="1512123"/>
            <a:ext cx="9384370" cy="3683060"/>
          </a:xfrm>
          <a:prstGeom prst="rect">
            <a:avLst/>
          </a:prstGeom>
          <a:noFill/>
        </p:spPr>
        <p:txBody>
          <a:bodyPr wrap="square" rtlCol="0">
            <a:spAutoFit/>
          </a:bodyPr>
          <a:lstStyle/>
          <a:p>
            <a:pPr>
              <a:spcAft>
                <a:spcPts val="1000"/>
              </a:spcAft>
              <a:defRPr sz="1400"/>
            </a:pPr>
            <a:r>
              <a:rPr sz="2000" dirty="0"/>
              <a:t>1. To gain hands-on expertise in Applied Machine Learning, training </a:t>
            </a:r>
            <a:r>
              <a:rPr sz="2000" dirty="0" err="1"/>
              <a:t>LightGBM</a:t>
            </a:r>
            <a:r>
              <a:rPr sz="2000" dirty="0"/>
              <a:t> and Gradient Boosted regression models on high-frequency solar sensor streams.</a:t>
            </a:r>
          </a:p>
          <a:p>
            <a:pPr>
              <a:spcAft>
                <a:spcPts val="1000"/>
              </a:spcAft>
              <a:defRPr sz="1400"/>
            </a:pPr>
            <a:r>
              <a:rPr sz="2000" dirty="0"/>
              <a:t>2. To design an automated anomaly detection engine that disambiguates gradual dust/soiling degradation from sudden electrical inverter tripping.</a:t>
            </a:r>
          </a:p>
          <a:p>
            <a:pPr>
              <a:spcAft>
                <a:spcPts val="1000"/>
              </a:spcAft>
              <a:defRPr sz="1400"/>
            </a:pPr>
            <a:r>
              <a:rPr sz="2000" dirty="0"/>
              <a:t>3. To build a financial loss quantification engine that converts kilowatt deficits into real-world Indian Rupee (₹) losses with actionable maintenance ROI.</a:t>
            </a:r>
          </a:p>
          <a:p>
            <a:pPr>
              <a:spcAft>
                <a:spcPts val="1000"/>
              </a:spcAft>
              <a:defRPr sz="1400"/>
            </a:pPr>
            <a:r>
              <a:rPr sz="2000" dirty="0"/>
              <a:t>4. To integrate an embedded, zero-configuration columnar SQL database (</a:t>
            </a:r>
            <a:r>
              <a:rPr sz="2000" dirty="0" err="1"/>
              <a:t>DuckDB</a:t>
            </a:r>
            <a:r>
              <a:rPr sz="2000" dirty="0"/>
              <a:t>) for high-performance telemetry persistence, multi-plant indexing, and audit logging.</a:t>
            </a:r>
          </a:p>
          <a:p>
            <a:pPr>
              <a:spcAft>
                <a:spcPts val="1000"/>
              </a:spcAft>
              <a:defRPr sz="1400"/>
            </a:pPr>
            <a:r>
              <a:rPr sz="2000" dirty="0"/>
              <a:t>5. To develop a bespoke, industrial-grade cleantech SCADA dashboard using </a:t>
            </a:r>
            <a:r>
              <a:rPr sz="2000" dirty="0" err="1"/>
              <a:t>Streamlit</a:t>
            </a:r>
            <a:r>
              <a:rPr sz="2000" dirty="0"/>
              <a:t> and </a:t>
            </a:r>
            <a:r>
              <a:rPr sz="2000" dirty="0" err="1"/>
              <a:t>Plotly</a:t>
            </a:r>
            <a:r>
              <a:rPr sz="2000" dirty="0"/>
              <a:t>, delivering real-time field dispatch directives.</a:t>
            </a:r>
          </a:p>
        </p:txBody>
      </p:sp>
    </p:spTree>
    <p:extLst>
      <p:ext uri="{BB962C8B-B14F-4D97-AF65-F5344CB8AC3E}">
        <p14:creationId xmlns:p14="http://schemas.microsoft.com/office/powerpoint/2010/main" val="1523679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B7893-3E2C-B185-888B-449DC5396F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7100FF-8A0A-C237-A62D-3E4B4E45D4D9}"/>
              </a:ext>
            </a:extLst>
          </p:cNvPr>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t>Project Overview</a:t>
            </a:r>
          </a:p>
        </p:txBody>
      </p:sp>
      <p:sp>
        <p:nvSpPr>
          <p:cNvPr id="2" name="Rectangle 1">
            <a:extLst>
              <a:ext uri="{FF2B5EF4-FFF2-40B4-BE49-F238E27FC236}">
                <a16:creationId xmlns:a16="http://schemas.microsoft.com/office/drawing/2014/main" id="{47234DDB-B4EB-2216-FBF7-0DBB2EA7A4E7}"/>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a:extLst>
              <a:ext uri="{FF2B5EF4-FFF2-40B4-BE49-F238E27FC236}">
                <a16:creationId xmlns:a16="http://schemas.microsoft.com/office/drawing/2014/main" id="{FA554481-8DAC-224D-D2FE-623BE3CE5E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F486643-8359-BEA3-609E-CD4706F76D20}"/>
              </a:ext>
            </a:extLst>
          </p:cNvPr>
          <p:cNvSpPr/>
          <p:nvPr/>
        </p:nvSpPr>
        <p:spPr>
          <a:xfrm>
            <a:off x="2315529" y="1471541"/>
            <a:ext cx="9308168" cy="3914918"/>
          </a:xfrm>
          <a:prstGeom prst="rect">
            <a:avLst/>
          </a:prstGeom>
        </p:spPr>
        <p:txBody>
          <a:bodyPr wrap="square">
            <a:spAutoFit/>
          </a:bodyPr>
          <a:lstStyle/>
          <a:p>
            <a:pPr>
              <a:spcAft>
                <a:spcPts val="900"/>
              </a:spcAft>
              <a:defRPr sz="1350"/>
            </a:pPr>
            <a:r>
              <a:rPr sz="1820" dirty="0"/>
              <a:t>• </a:t>
            </a:r>
            <a:r>
              <a:rPr sz="1820" dirty="0" err="1"/>
              <a:t>HelioPulse</a:t>
            </a:r>
            <a:r>
              <a:rPr sz="1820" dirty="0"/>
              <a:t> OS is an intelligent solar inverter underperformance and revenue loss diagnostic platform engineered specifically for desert and commercial rooftop installations.</a:t>
            </a:r>
            <a:endParaRPr lang="en-US" sz="1820" b="1" dirty="0">
              <a:latin typeface="Times New Roman" panose="02020603050405020304" pitchFamily="18" charset="0"/>
              <a:cs typeface="Times New Roman" panose="02020603050405020304" pitchFamily="18" charset="0"/>
            </a:endParaRPr>
          </a:p>
          <a:p>
            <a:pPr>
              <a:spcAft>
                <a:spcPts val="900"/>
              </a:spcAft>
              <a:defRPr sz="1350"/>
            </a:pPr>
            <a:r>
              <a:rPr sz="1820" dirty="0"/>
              <a:t>• Rather than relying on static generation thresholds, the system uses a trained </a:t>
            </a:r>
            <a:r>
              <a:rPr sz="1820" dirty="0" err="1"/>
              <a:t>LightGBM</a:t>
            </a:r>
            <a:r>
              <a:rPr sz="1820" dirty="0"/>
              <a:t> regression model to predict dynamic expected AC power from live meteorological sensors (solar irradiance, module temperature, and ambient temperature).</a:t>
            </a:r>
          </a:p>
          <a:p>
            <a:pPr>
              <a:spcAft>
                <a:spcPts val="900"/>
              </a:spcAft>
              <a:defRPr sz="1350"/>
            </a:pPr>
            <a:r>
              <a:rPr sz="1820" dirty="0"/>
              <a:t>• By comparing real-time output against predicted capacity, it computes inverter-specific Performance Ratios (PR), pinpoints faulty strings, and classifies anomalies into critical hardware trips versus dust accumulation.</a:t>
            </a:r>
          </a:p>
          <a:p>
            <a:pPr>
              <a:spcAft>
                <a:spcPts val="900"/>
              </a:spcAft>
              <a:defRPr sz="1350"/>
            </a:pPr>
            <a:r>
              <a:rPr sz="1820" dirty="0"/>
              <a:t>• Crucially, it turns abstract engineering deficits into executive maintenance decisions: calculating exact rupee losses and demonstrating the net financial return (ROI) of washing panel arrays.</a:t>
            </a:r>
          </a:p>
          <a:p>
            <a:pPr>
              <a:spcAft>
                <a:spcPts val="900"/>
              </a:spcAft>
              <a:defRPr sz="1350"/>
            </a:pPr>
            <a:r>
              <a:rPr sz="1820" dirty="0"/>
              <a:t>• Built with an embedded </a:t>
            </a:r>
            <a:r>
              <a:rPr sz="1820" dirty="0" err="1"/>
              <a:t>DuckDB</a:t>
            </a:r>
            <a:r>
              <a:rPr sz="1820" dirty="0"/>
              <a:t> columnar database, the platform features a custom Telemetry Ingestion Hub capable of auto-mapping and ingesting multi-plant SCADA feeds.</a:t>
            </a:r>
          </a:p>
        </p:txBody>
      </p:sp>
    </p:spTree>
    <p:extLst>
      <p:ext uri="{BB962C8B-B14F-4D97-AF65-F5344CB8AC3E}">
        <p14:creationId xmlns:p14="http://schemas.microsoft.com/office/powerpoint/2010/main" val="324930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53AF6-C258-C3FE-0737-02ED7669E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453653C-4BC9-D4D8-EF17-9471BC7DBC28}"/>
              </a:ext>
            </a:extLst>
          </p:cNvPr>
          <p:cNvSpPr txBox="1"/>
          <p:nvPr/>
        </p:nvSpPr>
        <p:spPr>
          <a:xfrm>
            <a:off x="3492463" y="443010"/>
            <a:ext cx="5207074" cy="369332"/>
          </a:xfrm>
          <a:prstGeom prst="rect">
            <a:avLst/>
          </a:prstGeom>
          <a:noFill/>
        </p:spPr>
        <p:txBody>
          <a:bodyPr wrap="square" rtlCol="0">
            <a:spAutoFit/>
          </a:bodyPr>
          <a:lstStyle/>
          <a:p>
            <a:r>
              <a:rPr dirty="0">
                <a:latin typeface="Arial Black" panose="020B0A04020102020204" pitchFamily="34" charset="0"/>
              </a:rPr>
              <a:t>EXECUTIVE OVERVIEW &amp; PLANT KPIS</a:t>
            </a:r>
          </a:p>
        </p:txBody>
      </p:sp>
      <p:pic>
        <p:nvPicPr>
          <p:cNvPr id="3" name="Picture 2">
            <a:extLst>
              <a:ext uri="{FF2B5EF4-FFF2-40B4-BE49-F238E27FC236}">
                <a16:creationId xmlns:a16="http://schemas.microsoft.com/office/drawing/2014/main" id="{8940A7B9-951F-4217-D98C-A25F900BEA5F}"/>
              </a:ext>
            </a:extLst>
          </p:cNvPr>
          <p:cNvPicPr>
            <a:picLocks noChangeAspect="1"/>
          </p:cNvPicPr>
          <p:nvPr/>
        </p:nvPicPr>
        <p:blipFill>
          <a:blip r:embed="rId2"/>
          <a:stretch>
            <a:fillRect/>
          </a:stretch>
        </p:blipFill>
        <p:spPr>
          <a:xfrm>
            <a:off x="0" y="1109931"/>
            <a:ext cx="12192000" cy="5591435"/>
          </a:xfrm>
          <a:prstGeom prst="rect">
            <a:avLst/>
          </a:prstGeom>
        </p:spPr>
      </p:pic>
    </p:spTree>
    <p:extLst>
      <p:ext uri="{BB962C8B-B14F-4D97-AF65-F5344CB8AC3E}">
        <p14:creationId xmlns:p14="http://schemas.microsoft.com/office/powerpoint/2010/main" val="3864987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5AEEE-030F-2E89-855E-F723886D036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163AD9-AAEB-CC31-B39A-853D4554CB6A}"/>
              </a:ext>
            </a:extLst>
          </p:cNvPr>
          <p:cNvSpPr txBox="1"/>
          <p:nvPr/>
        </p:nvSpPr>
        <p:spPr>
          <a:xfrm>
            <a:off x="2893256" y="368247"/>
            <a:ext cx="6405488" cy="369332"/>
          </a:xfrm>
          <a:prstGeom prst="rect">
            <a:avLst/>
          </a:prstGeom>
          <a:noFill/>
        </p:spPr>
        <p:txBody>
          <a:bodyPr wrap="square" rtlCol="0">
            <a:spAutoFit/>
          </a:bodyPr>
          <a:lstStyle/>
          <a:p>
            <a:r>
              <a:rPr dirty="0">
                <a:latin typeface="Arial Black" panose="020B0A04020102020204" pitchFamily="34" charset="0"/>
              </a:rPr>
              <a:t>PRIORITY ACTION QUEUE &amp; DIRECTIVES (USP)</a:t>
            </a:r>
          </a:p>
        </p:txBody>
      </p:sp>
      <p:pic>
        <p:nvPicPr>
          <p:cNvPr id="3" name="Picture 2">
            <a:extLst>
              <a:ext uri="{FF2B5EF4-FFF2-40B4-BE49-F238E27FC236}">
                <a16:creationId xmlns:a16="http://schemas.microsoft.com/office/drawing/2014/main" id="{A479FEB2-C865-D207-0032-142FFC3A8696}"/>
              </a:ext>
            </a:extLst>
          </p:cNvPr>
          <p:cNvPicPr>
            <a:picLocks noChangeAspect="1"/>
          </p:cNvPicPr>
          <p:nvPr/>
        </p:nvPicPr>
        <p:blipFill>
          <a:blip r:embed="rId2"/>
          <a:stretch>
            <a:fillRect/>
          </a:stretch>
        </p:blipFill>
        <p:spPr>
          <a:xfrm>
            <a:off x="0" y="948906"/>
            <a:ext cx="12192000" cy="5760927"/>
          </a:xfrm>
          <a:prstGeom prst="rect">
            <a:avLst/>
          </a:prstGeom>
        </p:spPr>
      </p:pic>
    </p:spTree>
    <p:extLst>
      <p:ext uri="{BB962C8B-B14F-4D97-AF65-F5344CB8AC3E}">
        <p14:creationId xmlns:p14="http://schemas.microsoft.com/office/powerpoint/2010/main" val="614829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C79F-E44C-BE69-FA93-977B6F3C2CF6}"/>
            </a:ext>
          </a:extLst>
        </p:cNvPr>
        <p:cNvGrpSpPr/>
        <p:nvPr/>
      </p:nvGrpSpPr>
      <p:grpSpPr>
        <a:xfrm>
          <a:off x="0" y="0"/>
          <a:ext cx="0" cy="0"/>
          <a:chOff x="0" y="0"/>
          <a:chExt cx="0" cy="0"/>
        </a:xfrm>
      </p:grpSpPr>
      <p:sp>
        <p:nvSpPr>
          <p:cNvPr id="4" name="TextBox 3"/>
          <p:cNvSpPr txBox="1"/>
          <p:nvPr/>
        </p:nvSpPr>
        <p:spPr>
          <a:xfrm>
            <a:off x="731520" y="182880"/>
            <a:ext cx="10058400" cy="731520"/>
          </a:xfrm>
          <a:prstGeom prst="rect">
            <a:avLst/>
          </a:prstGeom>
          <a:noFill/>
        </p:spPr>
        <p:txBody>
          <a:bodyPr wrap="none">
            <a:spAutoFit/>
          </a:bodyPr>
          <a:lstStyle/>
          <a:p>
            <a:pPr>
              <a:defRPr sz="2000" b="1">
                <a:solidFill>
                  <a:srgbClr val="0F172A"/>
                </a:solidFill>
              </a:defRPr>
            </a:pPr>
            <a:r>
              <a:t>END-TO-END PIPELINE ARCHITECTURE</a:t>
            </a:r>
          </a:p>
        </p:txBody>
      </p:sp>
      <p:pic>
        <p:nvPicPr>
          <p:cNvPr id="5" name="Picture 4" descr="13_architecture_pipeline.png"/>
          <p:cNvPicPr>
            <a:picLocks noChangeAspect="1"/>
          </p:cNvPicPr>
          <p:nvPr/>
        </p:nvPicPr>
        <p:blipFill>
          <a:blip r:embed="rId2"/>
          <a:stretch>
            <a:fillRect/>
          </a:stretch>
        </p:blipFill>
        <p:spPr>
          <a:xfrm>
            <a:off x="0" y="175908"/>
            <a:ext cx="12192000" cy="6176338"/>
          </a:xfrm>
          <a:prstGeom prst="rect">
            <a:avLst/>
          </a:prstGeom>
        </p:spPr>
      </p:pic>
    </p:spTree>
    <p:extLst>
      <p:ext uri="{BB962C8B-B14F-4D97-AF65-F5344CB8AC3E}">
        <p14:creationId xmlns:p14="http://schemas.microsoft.com/office/powerpoint/2010/main" val="2437407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FC0A-9189-AF72-ADF1-3CFF8000642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82B46E1-C49A-6FB2-A4AA-A7973CC2A6E9}"/>
              </a:ext>
            </a:extLst>
          </p:cNvPr>
          <p:cNvSpPr txBox="1"/>
          <p:nvPr/>
        </p:nvSpPr>
        <p:spPr>
          <a:xfrm>
            <a:off x="3197243" y="420568"/>
            <a:ext cx="5797514" cy="369332"/>
          </a:xfrm>
          <a:prstGeom prst="rect">
            <a:avLst/>
          </a:prstGeom>
          <a:noFill/>
        </p:spPr>
        <p:txBody>
          <a:bodyPr wrap="square" rtlCol="0">
            <a:spAutoFit/>
          </a:bodyPr>
          <a:lstStyle/>
          <a:p>
            <a:r>
              <a:rPr dirty="0">
                <a:latin typeface="Arial Black" panose="020B0A04020102020204" pitchFamily="34" charset="0"/>
              </a:rPr>
              <a:t>INVERTER REVENUE LOSS LEADERBOARD</a:t>
            </a:r>
          </a:p>
        </p:txBody>
      </p:sp>
      <p:pic>
        <p:nvPicPr>
          <p:cNvPr id="4" name="Picture 3">
            <a:extLst>
              <a:ext uri="{FF2B5EF4-FFF2-40B4-BE49-F238E27FC236}">
                <a16:creationId xmlns:a16="http://schemas.microsoft.com/office/drawing/2014/main" id="{ED8F8C40-158A-8F6D-1489-6B9D0BB89EBF}"/>
              </a:ext>
            </a:extLst>
          </p:cNvPr>
          <p:cNvPicPr>
            <a:picLocks noChangeAspect="1"/>
          </p:cNvPicPr>
          <p:nvPr/>
        </p:nvPicPr>
        <p:blipFill>
          <a:blip r:embed="rId2"/>
          <a:stretch>
            <a:fillRect/>
          </a:stretch>
        </p:blipFill>
        <p:spPr>
          <a:xfrm>
            <a:off x="0" y="1012165"/>
            <a:ext cx="12192000" cy="5676501"/>
          </a:xfrm>
          <a:prstGeom prst="rect">
            <a:avLst/>
          </a:prstGeom>
        </p:spPr>
      </p:pic>
    </p:spTree>
    <p:extLst>
      <p:ext uri="{BB962C8B-B14F-4D97-AF65-F5344CB8AC3E}">
        <p14:creationId xmlns:p14="http://schemas.microsoft.com/office/powerpoint/2010/main" val="1189130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0607-8849-55B4-5B00-65476450B3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5F30B6-22CE-AEFE-B7D3-5D33A0DC3D7F}"/>
              </a:ext>
            </a:extLst>
          </p:cNvPr>
          <p:cNvSpPr txBox="1"/>
          <p:nvPr/>
        </p:nvSpPr>
        <p:spPr>
          <a:xfrm>
            <a:off x="3108258" y="394941"/>
            <a:ext cx="6665595" cy="369332"/>
          </a:xfrm>
          <a:prstGeom prst="rect">
            <a:avLst/>
          </a:prstGeom>
          <a:noFill/>
        </p:spPr>
        <p:txBody>
          <a:bodyPr wrap="square" rtlCol="0">
            <a:spAutoFit/>
          </a:bodyPr>
          <a:lstStyle/>
          <a:p>
            <a:r>
              <a:rPr dirty="0">
                <a:latin typeface="Arial Black" panose="020B0A04020102020204" pitchFamily="34" charset="0"/>
              </a:rPr>
              <a:t>DIAGNOSTIC AUDIT &amp; SCORECARD TABLE</a:t>
            </a:r>
          </a:p>
        </p:txBody>
      </p:sp>
      <p:pic>
        <p:nvPicPr>
          <p:cNvPr id="3" name="Picture 2">
            <a:extLst>
              <a:ext uri="{FF2B5EF4-FFF2-40B4-BE49-F238E27FC236}">
                <a16:creationId xmlns:a16="http://schemas.microsoft.com/office/drawing/2014/main" id="{B64EAB41-0504-5991-F929-3EDDC1BF08E1}"/>
              </a:ext>
            </a:extLst>
          </p:cNvPr>
          <p:cNvPicPr>
            <a:picLocks noChangeAspect="1"/>
          </p:cNvPicPr>
          <p:nvPr/>
        </p:nvPicPr>
        <p:blipFill>
          <a:blip r:embed="rId2"/>
          <a:stretch>
            <a:fillRect/>
          </a:stretch>
        </p:blipFill>
        <p:spPr>
          <a:xfrm>
            <a:off x="0" y="1000663"/>
            <a:ext cx="12192000" cy="5688003"/>
          </a:xfrm>
          <a:prstGeom prst="rect">
            <a:avLst/>
          </a:prstGeom>
        </p:spPr>
      </p:pic>
    </p:spTree>
    <p:extLst>
      <p:ext uri="{BB962C8B-B14F-4D97-AF65-F5344CB8AC3E}">
        <p14:creationId xmlns:p14="http://schemas.microsoft.com/office/powerpoint/2010/main" val="2662159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9E68-7820-D7FB-4956-AACC90205F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A5EB76-357C-918C-45F5-DFEA9156D299}"/>
              </a:ext>
            </a:extLst>
          </p:cNvPr>
          <p:cNvSpPr txBox="1"/>
          <p:nvPr/>
        </p:nvSpPr>
        <p:spPr>
          <a:xfrm>
            <a:off x="2421021" y="429445"/>
            <a:ext cx="7349958" cy="369332"/>
          </a:xfrm>
          <a:prstGeom prst="rect">
            <a:avLst/>
          </a:prstGeom>
          <a:noFill/>
        </p:spPr>
        <p:txBody>
          <a:bodyPr wrap="square" rtlCol="0">
            <a:spAutoFit/>
          </a:bodyPr>
          <a:lstStyle/>
          <a:p>
            <a:r>
              <a:rPr dirty="0">
                <a:latin typeface="Arial Black" panose="020B0A04020102020204" pitchFamily="34" charset="0"/>
              </a:rPr>
              <a:t>DYNAMIC 15-MIN GENERATION VS EXPECTED CURVES</a:t>
            </a:r>
          </a:p>
        </p:txBody>
      </p:sp>
      <p:pic>
        <p:nvPicPr>
          <p:cNvPr id="3" name="Picture 2">
            <a:extLst>
              <a:ext uri="{FF2B5EF4-FFF2-40B4-BE49-F238E27FC236}">
                <a16:creationId xmlns:a16="http://schemas.microsoft.com/office/drawing/2014/main" id="{39D8D3AE-81B5-A897-18D2-6C00D87B71AF}"/>
              </a:ext>
            </a:extLst>
          </p:cNvPr>
          <p:cNvPicPr>
            <a:picLocks noChangeAspect="1"/>
          </p:cNvPicPr>
          <p:nvPr/>
        </p:nvPicPr>
        <p:blipFill>
          <a:blip r:embed="rId2"/>
          <a:stretch>
            <a:fillRect/>
          </a:stretch>
        </p:blipFill>
        <p:spPr>
          <a:xfrm>
            <a:off x="0" y="1121434"/>
            <a:ext cx="12192000" cy="5571466"/>
          </a:xfrm>
          <a:prstGeom prst="rect">
            <a:avLst/>
          </a:prstGeom>
        </p:spPr>
      </p:pic>
    </p:spTree>
    <p:extLst>
      <p:ext uri="{BB962C8B-B14F-4D97-AF65-F5344CB8AC3E}">
        <p14:creationId xmlns:p14="http://schemas.microsoft.com/office/powerpoint/2010/main" val="1272098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5DD9F-4C0E-FF80-93F8-EBB41B359A7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3E98609-E51F-36BF-87B9-EC3042BEFBF1}"/>
              </a:ext>
            </a:extLst>
          </p:cNvPr>
          <p:cNvSpPr txBox="1"/>
          <p:nvPr/>
        </p:nvSpPr>
        <p:spPr>
          <a:xfrm>
            <a:off x="3021871" y="445636"/>
            <a:ext cx="6148258" cy="369332"/>
          </a:xfrm>
          <a:prstGeom prst="rect">
            <a:avLst/>
          </a:prstGeom>
          <a:noFill/>
        </p:spPr>
        <p:txBody>
          <a:bodyPr wrap="square" rtlCol="0">
            <a:spAutoFit/>
          </a:bodyPr>
          <a:lstStyle/>
          <a:p>
            <a:r>
              <a:rPr dirty="0">
                <a:latin typeface="Arial Black" panose="020B0A04020102020204" pitchFamily="34" charset="0"/>
              </a:rPr>
              <a:t>METEOROLOGICAL SENSOR TELEMETRY</a:t>
            </a:r>
          </a:p>
        </p:txBody>
      </p:sp>
      <p:pic>
        <p:nvPicPr>
          <p:cNvPr id="3" name="Picture 2">
            <a:extLst>
              <a:ext uri="{FF2B5EF4-FFF2-40B4-BE49-F238E27FC236}">
                <a16:creationId xmlns:a16="http://schemas.microsoft.com/office/drawing/2014/main" id="{17E3ADED-B738-41F0-C638-8B7637EF2002}"/>
              </a:ext>
            </a:extLst>
          </p:cNvPr>
          <p:cNvPicPr>
            <a:picLocks noChangeAspect="1"/>
          </p:cNvPicPr>
          <p:nvPr/>
        </p:nvPicPr>
        <p:blipFill>
          <a:blip r:embed="rId2"/>
          <a:stretch>
            <a:fillRect/>
          </a:stretch>
        </p:blipFill>
        <p:spPr>
          <a:xfrm>
            <a:off x="0" y="1219200"/>
            <a:ext cx="12192000" cy="5456766"/>
          </a:xfrm>
          <a:prstGeom prst="rect">
            <a:avLst/>
          </a:prstGeom>
        </p:spPr>
      </p:pic>
    </p:spTree>
    <p:extLst>
      <p:ext uri="{BB962C8B-B14F-4D97-AF65-F5344CB8AC3E}">
        <p14:creationId xmlns:p14="http://schemas.microsoft.com/office/powerpoint/2010/main" val="33695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1CE20-43D8-0C26-E688-601CBE0B419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6540D41-1B13-2CF2-9FB0-08CB5B80B7DA}"/>
              </a:ext>
            </a:extLst>
          </p:cNvPr>
          <p:cNvSpPr txBox="1"/>
          <p:nvPr/>
        </p:nvSpPr>
        <p:spPr>
          <a:xfrm>
            <a:off x="2634025" y="296611"/>
            <a:ext cx="6923950" cy="369332"/>
          </a:xfrm>
          <a:prstGeom prst="rect">
            <a:avLst/>
          </a:prstGeom>
          <a:noFill/>
        </p:spPr>
        <p:txBody>
          <a:bodyPr wrap="square" rtlCol="0">
            <a:spAutoFit/>
          </a:bodyPr>
          <a:lstStyle/>
          <a:p>
            <a:r>
              <a:rPr dirty="0">
                <a:latin typeface="Arial Black" panose="020B0A04020102020204" pitchFamily="34" charset="0"/>
              </a:rPr>
              <a:t>LIGHTGBM REGRESSION &amp; FEATURE IMPORTANCE</a:t>
            </a:r>
          </a:p>
        </p:txBody>
      </p:sp>
      <p:pic>
        <p:nvPicPr>
          <p:cNvPr id="3" name="Picture 2">
            <a:extLst>
              <a:ext uri="{FF2B5EF4-FFF2-40B4-BE49-F238E27FC236}">
                <a16:creationId xmlns:a16="http://schemas.microsoft.com/office/drawing/2014/main" id="{733F39A3-A99E-A3EC-17AB-0BFF668F1947}"/>
              </a:ext>
            </a:extLst>
          </p:cNvPr>
          <p:cNvPicPr>
            <a:picLocks noChangeAspect="1"/>
          </p:cNvPicPr>
          <p:nvPr/>
        </p:nvPicPr>
        <p:blipFill>
          <a:blip r:embed="rId2"/>
          <a:stretch>
            <a:fillRect/>
          </a:stretch>
        </p:blipFill>
        <p:spPr>
          <a:xfrm>
            <a:off x="0" y="971908"/>
            <a:ext cx="12192000" cy="5733691"/>
          </a:xfrm>
          <a:prstGeom prst="rect">
            <a:avLst/>
          </a:prstGeom>
        </p:spPr>
      </p:pic>
    </p:spTree>
    <p:extLst>
      <p:ext uri="{BB962C8B-B14F-4D97-AF65-F5344CB8AC3E}">
        <p14:creationId xmlns:p14="http://schemas.microsoft.com/office/powerpoint/2010/main" val="2026899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11636-6B15-C448-640B-14E4FCC340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6E4720-56E7-32AB-158E-1CA8296C2A16}"/>
              </a:ext>
            </a:extLst>
          </p:cNvPr>
          <p:cNvSpPr txBox="1"/>
          <p:nvPr/>
        </p:nvSpPr>
        <p:spPr>
          <a:xfrm>
            <a:off x="3512419" y="378187"/>
            <a:ext cx="5167161" cy="369332"/>
          </a:xfrm>
          <a:prstGeom prst="rect">
            <a:avLst/>
          </a:prstGeom>
          <a:noFill/>
        </p:spPr>
        <p:txBody>
          <a:bodyPr wrap="square" rtlCol="0">
            <a:spAutoFit/>
          </a:bodyPr>
          <a:lstStyle/>
          <a:p>
            <a:r>
              <a:rPr dirty="0">
                <a:latin typeface="Arial Black" panose="020B0A04020102020204" pitchFamily="34" charset="0"/>
              </a:rPr>
              <a:t>CUSTOM DATASET INGESTION HUB</a:t>
            </a:r>
          </a:p>
        </p:txBody>
      </p:sp>
      <p:pic>
        <p:nvPicPr>
          <p:cNvPr id="3" name="Picture 2">
            <a:extLst>
              <a:ext uri="{FF2B5EF4-FFF2-40B4-BE49-F238E27FC236}">
                <a16:creationId xmlns:a16="http://schemas.microsoft.com/office/drawing/2014/main" id="{CF9E3E84-B938-6051-A1B9-80FBCBE126BC}"/>
              </a:ext>
            </a:extLst>
          </p:cNvPr>
          <p:cNvPicPr>
            <a:picLocks noChangeAspect="1"/>
          </p:cNvPicPr>
          <p:nvPr/>
        </p:nvPicPr>
        <p:blipFill>
          <a:blip r:embed="rId2"/>
          <a:stretch>
            <a:fillRect/>
          </a:stretch>
        </p:blipFill>
        <p:spPr>
          <a:xfrm>
            <a:off x="0" y="885644"/>
            <a:ext cx="12192000" cy="5807255"/>
          </a:xfrm>
          <a:prstGeom prst="rect">
            <a:avLst/>
          </a:prstGeom>
        </p:spPr>
      </p:pic>
    </p:spTree>
    <p:extLst>
      <p:ext uri="{BB962C8B-B14F-4D97-AF65-F5344CB8AC3E}">
        <p14:creationId xmlns:p14="http://schemas.microsoft.com/office/powerpoint/2010/main" val="92454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68E9F-9015-82B0-8B00-3EB6BB8346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A934E4-F198-49D6-F1F8-216DA5488CFC}"/>
              </a:ext>
            </a:extLst>
          </p:cNvPr>
          <p:cNvSpPr txBox="1"/>
          <p:nvPr/>
        </p:nvSpPr>
        <p:spPr>
          <a:xfrm>
            <a:off x="2933293" y="395440"/>
            <a:ext cx="6325414" cy="369332"/>
          </a:xfrm>
          <a:prstGeom prst="rect">
            <a:avLst/>
          </a:prstGeom>
          <a:noFill/>
        </p:spPr>
        <p:txBody>
          <a:bodyPr wrap="square" rtlCol="0">
            <a:spAutoFit/>
          </a:bodyPr>
          <a:lstStyle/>
          <a:p>
            <a:r>
              <a:rPr dirty="0">
                <a:latin typeface="Arial Black" panose="020B0A04020102020204" pitchFamily="34" charset="0"/>
              </a:rPr>
              <a:t>EMBEDDED DUCKDB DATABASE PERSISTENCE</a:t>
            </a:r>
          </a:p>
        </p:txBody>
      </p:sp>
      <p:pic>
        <p:nvPicPr>
          <p:cNvPr id="3" name="Picture 2">
            <a:extLst>
              <a:ext uri="{FF2B5EF4-FFF2-40B4-BE49-F238E27FC236}">
                <a16:creationId xmlns:a16="http://schemas.microsoft.com/office/drawing/2014/main" id="{4CC11134-A6A3-AB85-A145-69AE4351A493}"/>
              </a:ext>
            </a:extLst>
          </p:cNvPr>
          <p:cNvPicPr>
            <a:picLocks noChangeAspect="1"/>
          </p:cNvPicPr>
          <p:nvPr/>
        </p:nvPicPr>
        <p:blipFill>
          <a:blip r:embed="rId2"/>
          <a:stretch>
            <a:fillRect/>
          </a:stretch>
        </p:blipFill>
        <p:spPr>
          <a:xfrm>
            <a:off x="0" y="1023668"/>
            <a:ext cx="12192000" cy="5660765"/>
          </a:xfrm>
          <a:prstGeom prst="rect">
            <a:avLst/>
          </a:prstGeom>
        </p:spPr>
      </p:pic>
    </p:spTree>
    <p:extLst>
      <p:ext uri="{BB962C8B-B14F-4D97-AF65-F5344CB8AC3E}">
        <p14:creationId xmlns:p14="http://schemas.microsoft.com/office/powerpoint/2010/main" val="2979376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FBED9-28E5-221C-6A64-6432421D95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DF50DB-0302-5301-00BD-58A237AE7812}"/>
              </a:ext>
            </a:extLst>
          </p:cNvPr>
          <p:cNvSpPr/>
          <p:nvPr/>
        </p:nvSpPr>
        <p:spPr>
          <a:xfrm>
            <a:off x="2260979" y="218308"/>
            <a:ext cx="9417269" cy="6619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b="1" spc="0" dirty="0">
              <a:effectLst/>
              <a:latin typeface="Times New Roman" panose="02020603050405020304" pitchFamily="18" charset="0"/>
              <a:ea typeface="Symbol" panose="05050102010706020507" pitchFamily="18" charset="2"/>
              <a:cs typeface="Symbol" panose="05050102010706020507" pitchFamily="18" charset="2"/>
            </a:endParaRPr>
          </a:p>
          <a:p>
            <a:pPr algn="ctr">
              <a:defRPr/>
            </a:pPr>
            <a:r>
              <a:rPr lang="en-IN" sz="3200" b="1" spc="0" dirty="0">
                <a:effectLst/>
                <a:latin typeface="Times New Roman" panose="02020603050405020304" pitchFamily="18" charset="0"/>
                <a:ea typeface="Symbol" panose="05050102010706020507" pitchFamily="18" charset="2"/>
                <a:cs typeface="Times New Roman" panose="02020603050405020304" pitchFamily="18" charset="0"/>
              </a:rPr>
              <a:t>Future Scope</a:t>
            </a:r>
            <a:endParaRPr lang="en-IN" sz="3200" b="1" spc="0" dirty="0">
              <a:effectLst/>
              <a:latin typeface="Times New Roman" panose="02020603050405020304" pitchFamily="18" charset="0"/>
              <a:ea typeface="Symbol" panose="05050102010706020507" pitchFamily="18" charset="2"/>
              <a:cs typeface="Symbol" panose="05050102010706020507" pitchFamily="18" charset="2"/>
            </a:endParaRPr>
          </a:p>
          <a:p>
            <a:pPr algn="ctr" eaLnBrk="1" fontAlgn="auto" hangingPunct="1">
              <a:spcBef>
                <a:spcPts val="0"/>
              </a:spcBef>
              <a:spcAft>
                <a:spcPts val="0"/>
              </a:spcAft>
              <a:defRPr/>
            </a:pPr>
            <a:endParaRPr lang="en-US" altLang="en-US" sz="2800"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D441C461-C82B-5E14-F923-9892FAF1227E}"/>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3" name="Picture 2" descr="https://www.skit.ac.in/images/headers/skit_logo.png">
            <a:extLst>
              <a:ext uri="{FF2B5EF4-FFF2-40B4-BE49-F238E27FC236}">
                <a16:creationId xmlns:a16="http://schemas.microsoft.com/office/drawing/2014/main" id="{9BFA1B7A-D591-B83A-A173-1D09E18AE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51" y="20219"/>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08AE59E-FC7D-60FA-03A8-649C4BA1D713}"/>
              </a:ext>
            </a:extLst>
          </p:cNvPr>
          <p:cNvSpPr txBox="1"/>
          <p:nvPr/>
        </p:nvSpPr>
        <p:spPr>
          <a:xfrm>
            <a:off x="2260979" y="1519419"/>
            <a:ext cx="9417269" cy="3508653"/>
          </a:xfrm>
          <a:prstGeom prst="rect">
            <a:avLst/>
          </a:prstGeom>
          <a:noFill/>
        </p:spPr>
        <p:txBody>
          <a:bodyPr wrap="square" rtlCol="0">
            <a:spAutoFit/>
          </a:bodyPr>
          <a:lstStyle/>
          <a:p>
            <a:pPr>
              <a:spcAft>
                <a:spcPts val="1200"/>
              </a:spcAft>
              <a:defRPr sz="1400"/>
            </a:pPr>
            <a:r>
              <a:rPr sz="1820" dirty="0"/>
              <a:t>1. Drone Thermography &amp; Aerial RGB Imagery: Integration with computer-vision thermal imaging for automated panel crack, diode bypass, and hotspot localization.</a:t>
            </a:r>
            <a:endParaRPr lang="en-GB" sz="1820" dirty="0"/>
          </a:p>
          <a:p>
            <a:pPr>
              <a:spcAft>
                <a:spcPts val="1200"/>
              </a:spcAft>
              <a:defRPr sz="1400"/>
            </a:pPr>
            <a:r>
              <a:rPr sz="1820" dirty="0"/>
              <a:t>2. Day-Ahead Weather &amp; Generation Forecasting: Live integration with Open-</a:t>
            </a:r>
            <a:r>
              <a:rPr sz="1820" dirty="0" err="1"/>
              <a:t>Meteo</a:t>
            </a:r>
            <a:r>
              <a:rPr sz="1820" dirty="0"/>
              <a:t> and solar irradiance APIs to forecast tomorrow's generation and expected grid revenue.</a:t>
            </a:r>
          </a:p>
          <a:p>
            <a:pPr>
              <a:spcAft>
                <a:spcPts val="1200"/>
              </a:spcAft>
              <a:defRPr sz="1400"/>
            </a:pPr>
            <a:r>
              <a:rPr sz="1820" dirty="0"/>
              <a:t>3. Automated Cleaning Schedule Optimization: Dynamic optimization models solving for the exact day when accumulated soiling loss exceeds washing cost.</a:t>
            </a:r>
          </a:p>
          <a:p>
            <a:pPr>
              <a:spcAft>
                <a:spcPts val="1200"/>
              </a:spcAft>
              <a:defRPr sz="1400"/>
            </a:pPr>
            <a:r>
              <a:rPr sz="1820" dirty="0"/>
              <a:t>4. Deep Learning Time-Series Models: LSTM and Temporal Fusion Transformers (TFT) for tracking multi-quarter seasonal dust and monsoon wash cycles.</a:t>
            </a:r>
          </a:p>
          <a:p>
            <a:pPr>
              <a:spcAft>
                <a:spcPts val="1200"/>
              </a:spcAft>
              <a:defRPr sz="1400"/>
            </a:pPr>
            <a:r>
              <a:rPr sz="1820" dirty="0"/>
              <a:t>5. Mobile Field Dispatch Integration: Automated work-order generation with instant WhatsApp and SMS alerts for on-site technician dispatch.</a:t>
            </a:r>
          </a:p>
        </p:txBody>
      </p:sp>
    </p:spTree>
    <p:extLst>
      <p:ext uri="{BB962C8B-B14F-4D97-AF65-F5344CB8AC3E}">
        <p14:creationId xmlns:p14="http://schemas.microsoft.com/office/powerpoint/2010/main" val="1966830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1572F-75C8-51C7-2D23-317B1FADA1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B1060B-24A3-C8C4-4B2C-9D182C6241E4}"/>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a:extLst>
              <a:ext uri="{FF2B5EF4-FFF2-40B4-BE49-F238E27FC236}">
                <a16:creationId xmlns:a16="http://schemas.microsoft.com/office/drawing/2014/main" id="{22935292-DBAA-A732-7359-C62E1454EC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D5686E3-C3CA-7DEE-85F2-6C9F068CE54C}"/>
              </a:ext>
            </a:extLst>
          </p:cNvPr>
          <p:cNvSpPr txBox="1"/>
          <p:nvPr/>
        </p:nvSpPr>
        <p:spPr>
          <a:xfrm>
            <a:off x="4790661" y="2355573"/>
            <a:ext cx="2753139" cy="1200329"/>
          </a:xfrm>
          <a:prstGeom prst="rect">
            <a:avLst/>
          </a:prstGeom>
          <a:noFill/>
        </p:spPr>
        <p:txBody>
          <a:bodyPr wrap="square" rtlCol="0">
            <a:spAutoFit/>
          </a:bodyPr>
          <a:lstStyle/>
          <a:p>
            <a:r>
              <a:rPr lang="en-GB" sz="7200" b="1" dirty="0">
                <a:solidFill>
                  <a:srgbClr val="C00000"/>
                </a:solidFill>
                <a:latin typeface="Aptos" panose="020B0004020202020204" pitchFamily="34" charset="0"/>
              </a:rPr>
              <a:t>Q &amp; A </a:t>
            </a:r>
            <a:endParaRPr lang="en-IN" sz="7200" b="1" dirty="0">
              <a:solidFill>
                <a:srgbClr val="C00000"/>
              </a:solidFill>
              <a:latin typeface="Aptos" panose="020B0004020202020204" pitchFamily="34" charset="0"/>
            </a:endParaRPr>
          </a:p>
        </p:txBody>
      </p:sp>
    </p:spTree>
    <p:extLst>
      <p:ext uri="{BB962C8B-B14F-4D97-AF65-F5344CB8AC3E}">
        <p14:creationId xmlns:p14="http://schemas.microsoft.com/office/powerpoint/2010/main" val="3476775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4EDE-4C81-BC05-F776-C1224477F7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69C023-8F6B-49AB-C8BA-1680CC1F02EE}"/>
              </a:ext>
            </a:extLst>
          </p:cNvPr>
          <p:cNvSpPr/>
          <p:nvPr/>
        </p:nvSpPr>
        <p:spPr>
          <a:xfrm>
            <a:off x="0" y="6615113"/>
            <a:ext cx="12192000" cy="2301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US" altLang="en-US" sz="1200" b="1" dirty="0">
                <a:solidFill>
                  <a:schemeClr val="bg1"/>
                </a:solidFill>
                <a:latin typeface="Calibri" pitchFamily="34" charset="0"/>
              </a:rPr>
              <a:t>SKIT, JAIPUR										                                              www.skit.ac.in</a:t>
            </a:r>
          </a:p>
        </p:txBody>
      </p:sp>
      <p:pic>
        <p:nvPicPr>
          <p:cNvPr id="6" name="Picture 2" descr="https://www.skit.ac.in/images/headers/skit_logo.png">
            <a:extLst>
              <a:ext uri="{FF2B5EF4-FFF2-40B4-BE49-F238E27FC236}">
                <a16:creationId xmlns:a16="http://schemas.microsoft.com/office/drawing/2014/main" id="{9073AF53-46D8-C7B7-2953-08CE8E6BF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3" y="174676"/>
            <a:ext cx="1133475" cy="12001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7A2E62B-1203-8231-4DD3-FDAFDC5687F6}"/>
              </a:ext>
            </a:extLst>
          </p:cNvPr>
          <p:cNvSpPr txBox="1"/>
          <p:nvPr/>
        </p:nvSpPr>
        <p:spPr>
          <a:xfrm>
            <a:off x="3995530" y="2315817"/>
            <a:ext cx="4611758" cy="1200329"/>
          </a:xfrm>
          <a:prstGeom prst="rect">
            <a:avLst/>
          </a:prstGeom>
          <a:noFill/>
        </p:spPr>
        <p:txBody>
          <a:bodyPr wrap="square" rtlCol="0">
            <a:spAutoFit/>
          </a:bodyPr>
          <a:lstStyle/>
          <a:p>
            <a:r>
              <a:rPr lang="en-GB" sz="7200" b="1" dirty="0">
                <a:solidFill>
                  <a:srgbClr val="C00000"/>
                </a:solidFill>
                <a:latin typeface="Aptos" panose="020B0004020202020204" pitchFamily="34" charset="0"/>
              </a:rPr>
              <a:t>Thank You</a:t>
            </a:r>
            <a:endParaRPr lang="en-IN" sz="7200" b="1" dirty="0">
              <a:solidFill>
                <a:srgbClr val="C00000"/>
              </a:solidFill>
              <a:latin typeface="Aptos" panose="020B0004020202020204" pitchFamily="34" charset="0"/>
            </a:endParaRPr>
          </a:p>
        </p:txBody>
      </p:sp>
    </p:spTree>
    <p:extLst>
      <p:ext uri="{BB962C8B-B14F-4D97-AF65-F5344CB8AC3E}">
        <p14:creationId xmlns:p14="http://schemas.microsoft.com/office/powerpoint/2010/main" val="389767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75247</TotalTime>
  <Words>924</Words>
  <Application>Microsoft Office PowerPoint</Application>
  <PresentationFormat>Widescreen</PresentationFormat>
  <Paragraphs>70</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Arial Black</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Subodh Srivastava</dc:creator>
  <cp:lastModifiedBy>Dhritiman Sen</cp:lastModifiedBy>
  <cp:revision>257</cp:revision>
  <dcterms:created xsi:type="dcterms:W3CDTF">2022-05-04T15:19:53Z</dcterms:created>
  <dcterms:modified xsi:type="dcterms:W3CDTF">2026-10-12T06:36:41Z</dcterms:modified>
</cp:coreProperties>
</file>